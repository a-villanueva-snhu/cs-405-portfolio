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12192000"/>
  <p:notesSz cx="6858000" cy="9144000"/>
  <p:embeddedFontLst>
    <p:embeddedFont>
      <p:font typeface="Century Gothic"/>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0" roundtripDataSignature="AMtx7miJh7nAmlStwpXwHJHioFuO5Fux7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983F5A4-5A90-43A1-8A2F-36A4CF06700F}">
  <a:tblStyle styleId="{A983F5A4-5A90-43A1-8A2F-36A4CF06700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CenturyGothic-regular.fntdata"/><Relationship Id="rId25" Type="http://schemas.openxmlformats.org/officeDocument/2006/relationships/slide" Target="slides/slide19.xml"/><Relationship Id="rId28" Type="http://schemas.openxmlformats.org/officeDocument/2006/relationships/font" Target="fonts/CenturyGothic-italic.fntdata"/><Relationship Id="rId27" Type="http://schemas.openxmlformats.org/officeDocument/2006/relationships/font" Target="fonts/CenturyGothic-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CenturyGothic-boldItalic.fntdata"/><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ac9afabbe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g3fac9afabbe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9504e2950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9504e2950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facd84025d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facd84025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facd84025d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facd84025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facd84025d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facd84025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acd84025d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facd84025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 name="Google Shape;23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6" name="Google Shape;24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 name="Google Shape;27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pic>
        <p:nvPicPr>
          <p:cNvPr descr="C0-HD-BTM.png" id="13" name="Google Shape;13;p16"/>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4" name="Google Shape;14;p16"/>
          <p:cNvSpPr txBox="1"/>
          <p:nvPr>
            <p:ph type="ctrTitle"/>
          </p:nvPr>
        </p:nvSpPr>
        <p:spPr>
          <a:xfrm>
            <a:off x="1371600" y="1803405"/>
            <a:ext cx="9448800" cy="182509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6"/>
          <p:cNvSpPr txBox="1"/>
          <p:nvPr>
            <p:ph idx="1" type="subTitle"/>
          </p:nvPr>
        </p:nvSpPr>
        <p:spPr>
          <a:xfrm>
            <a:off x="1371600" y="3632201"/>
            <a:ext cx="9448800" cy="6858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6" name="Google Shape;16;p16"/>
          <p:cNvSpPr txBox="1"/>
          <p:nvPr>
            <p:ph idx="10" type="dt"/>
          </p:nvPr>
        </p:nvSpPr>
        <p:spPr>
          <a:xfrm>
            <a:off x="7909561" y="4314328"/>
            <a:ext cx="2910840" cy="374642"/>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6"/>
          <p:cNvSpPr txBox="1"/>
          <p:nvPr>
            <p:ph idx="11" type="ftr"/>
          </p:nvPr>
        </p:nvSpPr>
        <p:spPr>
          <a:xfrm>
            <a:off x="1371600" y="4323845"/>
            <a:ext cx="6400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2" type="sldNum"/>
          </p:nvPr>
        </p:nvSpPr>
        <p:spPr>
          <a:xfrm>
            <a:off x="8077200" y="1430866"/>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7"/>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7"/>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 name="Google Shape;22;p17"/>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7"/>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7"/>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25" name="Shape 25"/>
        <p:cNvGrpSpPr/>
        <p:nvPr/>
      </p:nvGrpSpPr>
      <p:grpSpPr>
        <a:xfrm>
          <a:off x="0" y="0"/>
          <a:ext cx="0" cy="0"/>
          <a:chOff x="0" y="0"/>
          <a:chExt cx="0" cy="0"/>
        </a:xfrm>
      </p:grpSpPr>
      <p:pic>
        <p:nvPicPr>
          <p:cNvPr descr="C0-HD-BTM.png" id="26" name="Google Shape;26;p18"/>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27" name="Google Shape;27;p18"/>
          <p:cNvSpPr txBox="1"/>
          <p:nvPr>
            <p:ph type="title"/>
          </p:nvPr>
        </p:nvSpPr>
        <p:spPr>
          <a:xfrm>
            <a:off x="685800" y="753533"/>
            <a:ext cx="10820399" cy="2801935"/>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8"/>
          <p:cNvSpPr txBox="1"/>
          <p:nvPr>
            <p:ph idx="1" type="body"/>
          </p:nvPr>
        </p:nvSpPr>
        <p:spPr>
          <a:xfrm>
            <a:off x="1024467" y="3641725"/>
            <a:ext cx="10490200" cy="9556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2200"/>
              <a:buNone/>
              <a:defRPr sz="2200">
                <a:solidFill>
                  <a:schemeClr val="lt1"/>
                </a:solidFill>
              </a:defRPr>
            </a:lvl1pPr>
            <a:lvl2pPr indent="-228600" lvl="1" marL="914400" algn="l">
              <a:lnSpc>
                <a:spcPct val="90000"/>
              </a:lnSpc>
              <a:spcBef>
                <a:spcPts val="500"/>
              </a:spcBef>
              <a:spcAft>
                <a:spcPts val="0"/>
              </a:spcAft>
              <a:buClr>
                <a:schemeClr val="lt1"/>
              </a:buClr>
              <a:buSzPts val="2000"/>
              <a:buNone/>
              <a:defRPr sz="2000">
                <a:solidFill>
                  <a:schemeClr val="lt1"/>
                </a:solidFill>
              </a:defRPr>
            </a:lvl2pPr>
            <a:lvl3pPr indent="-228600" lvl="2" marL="1371600" algn="l">
              <a:lnSpc>
                <a:spcPct val="90000"/>
              </a:lnSpc>
              <a:spcBef>
                <a:spcPts val="500"/>
              </a:spcBef>
              <a:spcAft>
                <a:spcPts val="0"/>
              </a:spcAft>
              <a:buClr>
                <a:schemeClr val="lt1"/>
              </a:buClr>
              <a:buSzPts val="1800"/>
              <a:buNone/>
              <a:defRPr sz="1800">
                <a:solidFill>
                  <a:schemeClr val="lt1"/>
                </a:solidFill>
              </a:defRPr>
            </a:lvl3pPr>
            <a:lvl4pPr indent="-228600" lvl="3" marL="1828800" algn="l">
              <a:lnSpc>
                <a:spcPct val="90000"/>
              </a:lnSpc>
              <a:spcBef>
                <a:spcPts val="500"/>
              </a:spcBef>
              <a:spcAft>
                <a:spcPts val="0"/>
              </a:spcAft>
              <a:buClr>
                <a:schemeClr val="lt1"/>
              </a:buClr>
              <a:buSzPts val="1600"/>
              <a:buNone/>
              <a:defRPr sz="1600">
                <a:solidFill>
                  <a:schemeClr val="lt1"/>
                </a:solidFill>
              </a:defRPr>
            </a:lvl4pPr>
            <a:lvl5pPr indent="-228600" lvl="4" marL="2286000" algn="l">
              <a:lnSpc>
                <a:spcPct val="90000"/>
              </a:lnSpc>
              <a:spcBef>
                <a:spcPts val="500"/>
              </a:spcBef>
              <a:spcAft>
                <a:spcPts val="0"/>
              </a:spcAft>
              <a:buClr>
                <a:schemeClr val="lt1"/>
              </a:buClr>
              <a:buSzPts val="1600"/>
              <a:buNone/>
              <a:defRPr sz="1600">
                <a:solidFill>
                  <a:schemeClr val="lt1"/>
                </a:solidFill>
              </a:defRPr>
            </a:lvl5pPr>
            <a:lvl6pPr indent="-228600" lvl="5" marL="2743200" algn="l">
              <a:lnSpc>
                <a:spcPct val="90000"/>
              </a:lnSpc>
              <a:spcBef>
                <a:spcPts val="500"/>
              </a:spcBef>
              <a:spcAft>
                <a:spcPts val="0"/>
              </a:spcAft>
              <a:buClr>
                <a:schemeClr val="lt1"/>
              </a:buClr>
              <a:buSzPts val="1600"/>
              <a:buNone/>
              <a:defRPr sz="1600">
                <a:solidFill>
                  <a:schemeClr val="lt1"/>
                </a:solidFill>
              </a:defRPr>
            </a:lvl6pPr>
            <a:lvl7pPr indent="-228600" lvl="6" marL="3200400" algn="l">
              <a:lnSpc>
                <a:spcPct val="90000"/>
              </a:lnSpc>
              <a:spcBef>
                <a:spcPts val="500"/>
              </a:spcBef>
              <a:spcAft>
                <a:spcPts val="0"/>
              </a:spcAft>
              <a:buClr>
                <a:schemeClr val="lt1"/>
              </a:buClr>
              <a:buSzPts val="1600"/>
              <a:buNone/>
              <a:defRPr sz="1600">
                <a:solidFill>
                  <a:schemeClr val="lt1"/>
                </a:solidFill>
              </a:defRPr>
            </a:lvl7pPr>
            <a:lvl8pPr indent="-228600" lvl="7" marL="3657600" algn="l">
              <a:lnSpc>
                <a:spcPct val="90000"/>
              </a:lnSpc>
              <a:spcBef>
                <a:spcPts val="500"/>
              </a:spcBef>
              <a:spcAft>
                <a:spcPts val="0"/>
              </a:spcAft>
              <a:buClr>
                <a:schemeClr val="lt1"/>
              </a:buClr>
              <a:buSzPts val="1600"/>
              <a:buNone/>
              <a:defRPr sz="1600">
                <a:solidFill>
                  <a:schemeClr val="lt1"/>
                </a:solidFill>
              </a:defRPr>
            </a:lvl8pPr>
            <a:lvl9pPr indent="-228600" lvl="8" marL="4114800" algn="l">
              <a:lnSpc>
                <a:spcPct val="90000"/>
              </a:lnSpc>
              <a:spcBef>
                <a:spcPts val="500"/>
              </a:spcBef>
              <a:spcAft>
                <a:spcPts val="0"/>
              </a:spcAft>
              <a:buClr>
                <a:schemeClr val="lt1"/>
              </a:buClr>
              <a:buSzPts val="1600"/>
              <a:buNone/>
              <a:defRPr sz="1600">
                <a:solidFill>
                  <a:schemeClr val="lt1"/>
                </a:solidFill>
              </a:defRPr>
            </a:lvl9pPr>
          </a:lstStyle>
          <a:p/>
        </p:txBody>
      </p:sp>
      <p:sp>
        <p:nvSpPr>
          <p:cNvPr id="29" name="Google Shape;29;p18"/>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8"/>
          <p:cNvSpPr txBox="1"/>
          <p:nvPr>
            <p:ph idx="11" type="ftr"/>
          </p:nvPr>
        </p:nvSpPr>
        <p:spPr>
          <a:xfrm>
            <a:off x="685800" y="381001"/>
            <a:ext cx="6991492" cy="36406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8"/>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19"/>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9"/>
          <p:cNvSpPr txBox="1"/>
          <p:nvPr>
            <p:ph idx="1" type="body"/>
          </p:nvPr>
        </p:nvSpPr>
        <p:spPr>
          <a:xfrm>
            <a:off x="6858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5" name="Google Shape;35;p19"/>
          <p:cNvSpPr txBox="1"/>
          <p:nvPr>
            <p:ph idx="2" type="body"/>
          </p:nvPr>
        </p:nvSpPr>
        <p:spPr>
          <a:xfrm>
            <a:off x="61722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6" name="Google Shape;36;p19"/>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9"/>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9"/>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9" name="Shape 39"/>
        <p:cNvGrpSpPr/>
        <p:nvPr/>
      </p:nvGrpSpPr>
      <p:grpSpPr>
        <a:xfrm>
          <a:off x="0" y="0"/>
          <a:ext cx="0" cy="0"/>
          <a:chOff x="0" y="0"/>
          <a:chExt cx="0" cy="0"/>
        </a:xfrm>
      </p:grpSpPr>
      <p:sp>
        <p:nvSpPr>
          <p:cNvPr id="40" name="Google Shape;40;p20"/>
          <p:cNvSpPr txBox="1"/>
          <p:nvPr>
            <p:ph type="title"/>
          </p:nvPr>
        </p:nvSpPr>
        <p:spPr>
          <a:xfrm>
            <a:off x="2895600" y="762000"/>
            <a:ext cx="8610600"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0"/>
          <p:cNvSpPr txBox="1"/>
          <p:nvPr>
            <p:ph idx="1" type="body"/>
          </p:nvPr>
        </p:nvSpPr>
        <p:spPr>
          <a:xfrm>
            <a:off x="914409" y="2183802"/>
            <a:ext cx="50799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2" name="Google Shape;42;p20"/>
          <p:cNvSpPr txBox="1"/>
          <p:nvPr>
            <p:ph idx="2" type="body"/>
          </p:nvPr>
        </p:nvSpPr>
        <p:spPr>
          <a:xfrm>
            <a:off x="685800" y="3132666"/>
            <a:ext cx="5311775"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3" name="Google Shape;43;p20"/>
          <p:cNvSpPr txBox="1"/>
          <p:nvPr>
            <p:ph idx="3" type="body"/>
          </p:nvPr>
        </p:nvSpPr>
        <p:spPr>
          <a:xfrm>
            <a:off x="6400800" y="2183802"/>
            <a:ext cx="51054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4" name="Google Shape;44;p20"/>
          <p:cNvSpPr txBox="1"/>
          <p:nvPr>
            <p:ph idx="4" type="body"/>
          </p:nvPr>
        </p:nvSpPr>
        <p:spPr>
          <a:xfrm>
            <a:off x="6172200" y="3132666"/>
            <a:ext cx="5334000"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5" name="Google Shape;45;p20"/>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0"/>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0"/>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2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1"/>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22"/>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2"/>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23"/>
          <p:cNvSpPr txBox="1"/>
          <p:nvPr>
            <p:ph type="title"/>
          </p:nvPr>
        </p:nvSpPr>
        <p:spPr>
          <a:xfrm>
            <a:off x="685800" y="1524000"/>
            <a:ext cx="41148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3"/>
          <p:cNvSpPr txBox="1"/>
          <p:nvPr>
            <p:ph idx="1" type="body"/>
          </p:nvPr>
        </p:nvSpPr>
        <p:spPr>
          <a:xfrm>
            <a:off x="4995582" y="746759"/>
            <a:ext cx="6510618" cy="5471925"/>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0" name="Google Shape;60;p23"/>
          <p:cNvSpPr txBox="1"/>
          <p:nvPr>
            <p:ph idx="2" type="body"/>
          </p:nvPr>
        </p:nvSpPr>
        <p:spPr>
          <a:xfrm>
            <a:off x="685800" y="3124199"/>
            <a:ext cx="411480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1" name="Google Shape;61;p23"/>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3"/>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24"/>
          <p:cNvSpPr txBox="1"/>
          <p:nvPr>
            <p:ph type="title"/>
          </p:nvPr>
        </p:nvSpPr>
        <p:spPr>
          <a:xfrm>
            <a:off x="685800" y="1524000"/>
            <a:ext cx="687324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4"/>
          <p:cNvSpPr/>
          <p:nvPr>
            <p:ph idx="2" type="pic"/>
          </p:nvPr>
        </p:nvSpPr>
        <p:spPr>
          <a:xfrm>
            <a:off x="7861238" y="751241"/>
            <a:ext cx="3644962" cy="5467443"/>
          </a:xfrm>
          <a:prstGeom prst="rect">
            <a:avLst/>
          </a:prstGeom>
          <a:noFill/>
          <a:ln>
            <a:noFill/>
          </a:ln>
        </p:spPr>
      </p:sp>
      <p:sp>
        <p:nvSpPr>
          <p:cNvPr id="67" name="Google Shape;67;p24"/>
          <p:cNvSpPr txBox="1"/>
          <p:nvPr>
            <p:ph idx="1" type="body"/>
          </p:nvPr>
        </p:nvSpPr>
        <p:spPr>
          <a:xfrm>
            <a:off x="685800" y="3124199"/>
            <a:ext cx="687324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8" name="Google Shape;68;p24"/>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4"/>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1" name="Shape 71"/>
        <p:cNvGrpSpPr/>
        <p:nvPr/>
      </p:nvGrpSpPr>
      <p:grpSpPr>
        <a:xfrm>
          <a:off x="0" y="0"/>
          <a:ext cx="0" cy="0"/>
          <a:chOff x="0" y="0"/>
          <a:chExt cx="0" cy="0"/>
        </a:xfrm>
      </p:grpSpPr>
      <p:sp>
        <p:nvSpPr>
          <p:cNvPr id="72" name="Google Shape;72;p25"/>
          <p:cNvSpPr txBox="1"/>
          <p:nvPr>
            <p:ph type="title"/>
          </p:nvPr>
        </p:nvSpPr>
        <p:spPr>
          <a:xfrm>
            <a:off x="685777" y="4697360"/>
            <a:ext cx="10822034" cy="81935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5"/>
          <p:cNvSpPr/>
          <p:nvPr>
            <p:ph idx="2" type="pic"/>
          </p:nvPr>
        </p:nvSpPr>
        <p:spPr>
          <a:xfrm>
            <a:off x="681727" y="941439"/>
            <a:ext cx="10821840" cy="3478161"/>
          </a:xfrm>
          <a:prstGeom prst="rect">
            <a:avLst/>
          </a:prstGeom>
          <a:noFill/>
          <a:ln>
            <a:noFill/>
          </a:ln>
        </p:spPr>
      </p:sp>
      <p:sp>
        <p:nvSpPr>
          <p:cNvPr id="74" name="Google Shape;74;p25"/>
          <p:cNvSpPr txBox="1"/>
          <p:nvPr>
            <p:ph idx="1" type="body"/>
          </p:nvPr>
        </p:nvSpPr>
        <p:spPr>
          <a:xfrm>
            <a:off x="685800" y="5516715"/>
            <a:ext cx="10820400" cy="70196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75" name="Google Shape;75;p25"/>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showMasterSp="0">
  <p:cSld name="Title and Caption">
    <p:spTree>
      <p:nvGrpSpPr>
        <p:cNvPr id="78" name="Shape 78"/>
        <p:cNvGrpSpPr/>
        <p:nvPr/>
      </p:nvGrpSpPr>
      <p:grpSpPr>
        <a:xfrm>
          <a:off x="0" y="0"/>
          <a:ext cx="0" cy="0"/>
          <a:chOff x="0" y="0"/>
          <a:chExt cx="0" cy="0"/>
        </a:xfrm>
      </p:grpSpPr>
      <p:pic>
        <p:nvPicPr>
          <p:cNvPr descr="C0-HD-BTM.png" id="79" name="Google Shape;79;p26"/>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0" name="Google Shape;80;p26"/>
          <p:cNvSpPr txBox="1"/>
          <p:nvPr>
            <p:ph type="title"/>
          </p:nvPr>
        </p:nvSpPr>
        <p:spPr>
          <a:xfrm>
            <a:off x="685800" y="753532"/>
            <a:ext cx="10820400" cy="280246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6"/>
          <p:cNvSpPr txBox="1"/>
          <p:nvPr>
            <p:ph idx="1" type="body"/>
          </p:nvPr>
        </p:nvSpPr>
        <p:spPr>
          <a:xfrm>
            <a:off x="1024467" y="3649133"/>
            <a:ext cx="10130516" cy="999067"/>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2" name="Google Shape;82;p26"/>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6"/>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6"/>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showMasterSp="0">
  <p:cSld name="Quote with Caption">
    <p:spTree>
      <p:nvGrpSpPr>
        <p:cNvPr id="85" name="Shape 85"/>
        <p:cNvGrpSpPr/>
        <p:nvPr/>
      </p:nvGrpSpPr>
      <p:grpSpPr>
        <a:xfrm>
          <a:off x="0" y="0"/>
          <a:ext cx="0" cy="0"/>
          <a:chOff x="0" y="0"/>
          <a:chExt cx="0" cy="0"/>
        </a:xfrm>
      </p:grpSpPr>
      <p:pic>
        <p:nvPicPr>
          <p:cNvPr descr="C0-HD-BTM.png" id="86" name="Google Shape;86;p27"/>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7" name="Google Shape;87;p27"/>
          <p:cNvSpPr txBox="1"/>
          <p:nvPr>
            <p:ph type="title"/>
          </p:nvPr>
        </p:nvSpPr>
        <p:spPr>
          <a:xfrm>
            <a:off x="1024467" y="753533"/>
            <a:ext cx="10151533" cy="260449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7"/>
          <p:cNvSpPr txBox="1"/>
          <p:nvPr>
            <p:ph idx="1" type="body"/>
          </p:nvPr>
        </p:nvSpPr>
        <p:spPr>
          <a:xfrm>
            <a:off x="1303865" y="3365556"/>
            <a:ext cx="9592736" cy="4444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9" name="Google Shape;89;p27"/>
          <p:cNvSpPr txBox="1"/>
          <p:nvPr>
            <p:ph idx="2" type="body"/>
          </p:nvPr>
        </p:nvSpPr>
        <p:spPr>
          <a:xfrm>
            <a:off x="1024467" y="3959862"/>
            <a:ext cx="10151533" cy="679871"/>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0" name="Google Shape;90;p27"/>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27"/>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7"/>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8000"/>
              <a:buFont typeface="Century Gothic"/>
              <a:buNone/>
            </a:pPr>
            <a:r>
              <a:rPr b="0" i="0" lang="en-US" sz="80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entury Gothic"/>
              <a:buNone/>
            </a:pPr>
            <a:r>
              <a:rPr b="0" i="0" lang="en-US" sz="80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showMasterSp="0">
  <p:cSld name="Name Card">
    <p:spTree>
      <p:nvGrpSpPr>
        <p:cNvPr id="95" name="Shape 95"/>
        <p:cNvGrpSpPr/>
        <p:nvPr/>
      </p:nvGrpSpPr>
      <p:grpSpPr>
        <a:xfrm>
          <a:off x="0" y="0"/>
          <a:ext cx="0" cy="0"/>
          <a:chOff x="0" y="0"/>
          <a:chExt cx="0" cy="0"/>
        </a:xfrm>
      </p:grpSpPr>
      <p:pic>
        <p:nvPicPr>
          <p:cNvPr descr="C0-HD-BTM.png" id="96" name="Google Shape;96;p28"/>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97" name="Google Shape;97;p28"/>
          <p:cNvSpPr txBox="1"/>
          <p:nvPr>
            <p:ph type="title"/>
          </p:nvPr>
        </p:nvSpPr>
        <p:spPr>
          <a:xfrm>
            <a:off x="1024495" y="1124701"/>
            <a:ext cx="10146186" cy="25118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8"/>
          <p:cNvSpPr txBox="1"/>
          <p:nvPr>
            <p:ph idx="1" type="body"/>
          </p:nvPr>
        </p:nvSpPr>
        <p:spPr>
          <a:xfrm>
            <a:off x="1024467" y="3648315"/>
            <a:ext cx="10144654" cy="9998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9" name="Google Shape;99;p28"/>
          <p:cNvSpPr txBox="1"/>
          <p:nvPr>
            <p:ph idx="10" type="dt"/>
          </p:nvPr>
        </p:nvSpPr>
        <p:spPr>
          <a:xfrm>
            <a:off x="7814452" y="378883"/>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28"/>
          <p:cNvSpPr txBox="1"/>
          <p:nvPr>
            <p:ph idx="11" type="ftr"/>
          </p:nvPr>
        </p:nvSpPr>
        <p:spPr>
          <a:xfrm>
            <a:off x="685800" y="378883"/>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28"/>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2" name="Shape 102"/>
        <p:cNvGrpSpPr/>
        <p:nvPr/>
      </p:nvGrpSpPr>
      <p:grpSpPr>
        <a:xfrm>
          <a:off x="0" y="0"/>
          <a:ext cx="0" cy="0"/>
          <a:chOff x="0" y="0"/>
          <a:chExt cx="0" cy="0"/>
        </a:xfrm>
      </p:grpSpPr>
      <p:sp>
        <p:nvSpPr>
          <p:cNvPr id="103" name="Google Shape;103;p29"/>
          <p:cNvSpPr txBox="1"/>
          <p:nvPr>
            <p:ph type="title"/>
          </p:nvPr>
        </p:nvSpPr>
        <p:spPr>
          <a:xfrm>
            <a:off x="2895600" y="761999"/>
            <a:ext cx="8610599" cy="1303867"/>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9"/>
          <p:cNvSpPr txBox="1"/>
          <p:nvPr>
            <p:ph idx="1" type="body"/>
          </p:nvPr>
        </p:nvSpPr>
        <p:spPr>
          <a:xfrm>
            <a:off x="685800" y="2202080"/>
            <a:ext cx="3456432" cy="61732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5" name="Google Shape;105;p29"/>
          <p:cNvSpPr txBox="1"/>
          <p:nvPr>
            <p:ph idx="2" type="body"/>
          </p:nvPr>
        </p:nvSpPr>
        <p:spPr>
          <a:xfrm>
            <a:off x="685799"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6" name="Google Shape;106;p29"/>
          <p:cNvSpPr txBox="1"/>
          <p:nvPr>
            <p:ph idx="3" type="body"/>
          </p:nvPr>
        </p:nvSpPr>
        <p:spPr>
          <a:xfrm>
            <a:off x="4368800" y="2201333"/>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7" name="Google Shape;107;p29"/>
          <p:cNvSpPr txBox="1"/>
          <p:nvPr>
            <p:ph idx="4" type="body"/>
          </p:nvPr>
        </p:nvSpPr>
        <p:spPr>
          <a:xfrm>
            <a:off x="4366858" y="2904067"/>
            <a:ext cx="3456432" cy="331461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8" name="Google Shape;108;p29"/>
          <p:cNvSpPr txBox="1"/>
          <p:nvPr>
            <p:ph idx="5" type="body"/>
          </p:nvPr>
        </p:nvSpPr>
        <p:spPr>
          <a:xfrm>
            <a:off x="8051800" y="2192866"/>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9" name="Google Shape;109;p29"/>
          <p:cNvSpPr txBox="1"/>
          <p:nvPr>
            <p:ph idx="6" type="body"/>
          </p:nvPr>
        </p:nvSpPr>
        <p:spPr>
          <a:xfrm>
            <a:off x="8051801"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0" name="Google Shape;110;p29"/>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9"/>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29"/>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3" name="Shape 113"/>
        <p:cNvGrpSpPr/>
        <p:nvPr/>
      </p:nvGrpSpPr>
      <p:grpSpPr>
        <a:xfrm>
          <a:off x="0" y="0"/>
          <a:ext cx="0" cy="0"/>
          <a:chOff x="0" y="0"/>
          <a:chExt cx="0" cy="0"/>
        </a:xfrm>
      </p:grpSpPr>
      <p:sp>
        <p:nvSpPr>
          <p:cNvPr id="114" name="Google Shape;114;p30"/>
          <p:cNvSpPr txBox="1"/>
          <p:nvPr>
            <p:ph type="title"/>
          </p:nvPr>
        </p:nvSpPr>
        <p:spPr>
          <a:xfrm>
            <a:off x="2895600" y="762000"/>
            <a:ext cx="8610599"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30"/>
          <p:cNvSpPr txBox="1"/>
          <p:nvPr>
            <p:ph idx="1" type="body"/>
          </p:nvPr>
        </p:nvSpPr>
        <p:spPr>
          <a:xfrm>
            <a:off x="688618" y="4191000"/>
            <a:ext cx="3451582"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6" name="Google Shape;116;p30"/>
          <p:cNvSpPr/>
          <p:nvPr>
            <p:ph idx="2" type="pic"/>
          </p:nvPr>
        </p:nvSpPr>
        <p:spPr>
          <a:xfrm>
            <a:off x="688618" y="2362200"/>
            <a:ext cx="3451582" cy="1524000"/>
          </a:xfrm>
          <a:prstGeom prst="roundRect">
            <a:avLst>
              <a:gd fmla="val 0" name="adj"/>
            </a:avLst>
          </a:prstGeom>
          <a:noFill/>
          <a:ln>
            <a:noFill/>
          </a:ln>
          <a:effectLst>
            <a:outerShdw blurRad="50800" rotWithShape="0" algn="tl" dir="5400000" dist="50800">
              <a:srgbClr val="000000">
                <a:alpha val="41961"/>
              </a:srgbClr>
            </a:outerShdw>
          </a:effectLst>
        </p:spPr>
      </p:sp>
      <p:sp>
        <p:nvSpPr>
          <p:cNvPr id="117" name="Google Shape;117;p30"/>
          <p:cNvSpPr txBox="1"/>
          <p:nvPr>
            <p:ph idx="3" type="body"/>
          </p:nvPr>
        </p:nvSpPr>
        <p:spPr>
          <a:xfrm>
            <a:off x="688618" y="4873764"/>
            <a:ext cx="3451582"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8" name="Google Shape;118;p30"/>
          <p:cNvSpPr txBox="1"/>
          <p:nvPr>
            <p:ph idx="4" type="body"/>
          </p:nvPr>
        </p:nvSpPr>
        <p:spPr>
          <a:xfrm>
            <a:off x="4374263" y="4191000"/>
            <a:ext cx="3448935"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9" name="Google Shape;119;p30"/>
          <p:cNvSpPr/>
          <p:nvPr>
            <p:ph idx="5" type="pic"/>
          </p:nvPr>
        </p:nvSpPr>
        <p:spPr>
          <a:xfrm>
            <a:off x="4374263" y="2362200"/>
            <a:ext cx="3448936" cy="1524000"/>
          </a:xfrm>
          <a:prstGeom prst="roundRect">
            <a:avLst>
              <a:gd fmla="val 0" name="adj"/>
            </a:avLst>
          </a:prstGeom>
          <a:noFill/>
          <a:ln>
            <a:noFill/>
          </a:ln>
          <a:effectLst>
            <a:outerShdw blurRad="50800" rotWithShape="0" algn="tl" dir="5400000" dist="50800">
              <a:srgbClr val="000000">
                <a:alpha val="41961"/>
              </a:srgbClr>
            </a:outerShdw>
          </a:effectLst>
        </p:spPr>
      </p:sp>
      <p:sp>
        <p:nvSpPr>
          <p:cNvPr id="120" name="Google Shape;120;p30"/>
          <p:cNvSpPr txBox="1"/>
          <p:nvPr>
            <p:ph idx="6" type="body"/>
          </p:nvPr>
        </p:nvSpPr>
        <p:spPr>
          <a:xfrm>
            <a:off x="4374264" y="4873763"/>
            <a:ext cx="344893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1" name="Google Shape;121;p30"/>
          <p:cNvSpPr txBox="1"/>
          <p:nvPr>
            <p:ph idx="7" type="body"/>
          </p:nvPr>
        </p:nvSpPr>
        <p:spPr>
          <a:xfrm>
            <a:off x="8049731" y="4191000"/>
            <a:ext cx="3456469"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2" name="Google Shape;122;p30"/>
          <p:cNvSpPr/>
          <p:nvPr>
            <p:ph idx="8" type="pic"/>
          </p:nvPr>
        </p:nvSpPr>
        <p:spPr>
          <a:xfrm>
            <a:off x="8049855" y="2362200"/>
            <a:ext cx="3447878" cy="1524000"/>
          </a:xfrm>
          <a:prstGeom prst="roundRect">
            <a:avLst>
              <a:gd fmla="val 0" name="adj"/>
            </a:avLst>
          </a:prstGeom>
          <a:noFill/>
          <a:ln>
            <a:noFill/>
          </a:ln>
          <a:effectLst>
            <a:outerShdw blurRad="50800" rotWithShape="0" algn="tl" dir="5400000" dist="50800">
              <a:srgbClr val="000000">
                <a:alpha val="41961"/>
              </a:srgbClr>
            </a:outerShdw>
          </a:effectLst>
        </p:spPr>
      </p:sp>
      <p:sp>
        <p:nvSpPr>
          <p:cNvPr id="123" name="Google Shape;123;p30"/>
          <p:cNvSpPr txBox="1"/>
          <p:nvPr>
            <p:ph idx="9" type="body"/>
          </p:nvPr>
        </p:nvSpPr>
        <p:spPr>
          <a:xfrm>
            <a:off x="8049731" y="4873761"/>
            <a:ext cx="345244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4" name="Google Shape;124;p30"/>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30"/>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30"/>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7" name="Shape 127"/>
        <p:cNvGrpSpPr/>
        <p:nvPr/>
      </p:nvGrpSpPr>
      <p:grpSpPr>
        <a:xfrm>
          <a:off x="0" y="0"/>
          <a:ext cx="0" cy="0"/>
          <a:chOff x="0" y="0"/>
          <a:chExt cx="0" cy="0"/>
        </a:xfrm>
      </p:grpSpPr>
      <p:sp>
        <p:nvSpPr>
          <p:cNvPr id="128" name="Google Shape;128;p3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31"/>
          <p:cNvSpPr txBox="1"/>
          <p:nvPr>
            <p:ph idx="1" type="body"/>
          </p:nvPr>
        </p:nvSpPr>
        <p:spPr>
          <a:xfrm rot="5400000">
            <a:off x="4083937" y="-1203579"/>
            <a:ext cx="4024125" cy="10820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0" name="Google Shape;130;p31"/>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31"/>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3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33" name="Shape 133"/>
        <p:cNvGrpSpPr/>
        <p:nvPr/>
      </p:nvGrpSpPr>
      <p:grpSpPr>
        <a:xfrm>
          <a:off x="0" y="0"/>
          <a:ext cx="0" cy="0"/>
          <a:chOff x="0" y="0"/>
          <a:chExt cx="0" cy="0"/>
        </a:xfrm>
      </p:grpSpPr>
      <p:pic>
        <p:nvPicPr>
          <p:cNvPr descr="C0-HD-BTM.png" id="134" name="Google Shape;134;p32"/>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35" name="Google Shape;135;p32"/>
          <p:cNvSpPr txBox="1"/>
          <p:nvPr>
            <p:ph type="title"/>
          </p:nvPr>
        </p:nvSpPr>
        <p:spPr>
          <a:xfrm rot="5400000">
            <a:off x="8525933" y="1667933"/>
            <a:ext cx="3903133" cy="2057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32"/>
          <p:cNvSpPr txBox="1"/>
          <p:nvPr>
            <p:ph idx="1" type="body"/>
          </p:nvPr>
        </p:nvSpPr>
        <p:spPr>
          <a:xfrm rot="5400000">
            <a:off x="3175000" y="-1405467"/>
            <a:ext cx="3903133" cy="82042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7" name="Google Shape;137;p32"/>
          <p:cNvSpPr txBox="1"/>
          <p:nvPr>
            <p:ph idx="10" type="dt"/>
          </p:nvPr>
        </p:nvSpPr>
        <p:spPr>
          <a:xfrm>
            <a:off x="7814452" y="379941"/>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32"/>
          <p:cNvSpPr txBox="1"/>
          <p:nvPr>
            <p:ph idx="11" type="ftr"/>
          </p:nvPr>
        </p:nvSpPr>
        <p:spPr>
          <a:xfrm>
            <a:off x="685800" y="381000"/>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32"/>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pic>
        <p:nvPicPr>
          <p:cNvPr descr="C0-HD-TOP.png" id="6" name="Google Shape;6;p15"/>
          <p:cNvPicPr preferRelativeResize="0"/>
          <p:nvPr/>
        </p:nvPicPr>
        <p:blipFill rotWithShape="1">
          <a:blip r:embed="rId1">
            <a:alphaModFix/>
          </a:blip>
          <a:srcRect b="0" l="0" r="0" t="0"/>
          <a:stretch/>
        </p:blipFill>
        <p:spPr>
          <a:xfrm>
            <a:off x="0" y="0"/>
            <a:ext cx="12192000" cy="1441450"/>
          </a:xfrm>
          <a:prstGeom prst="rect">
            <a:avLst/>
          </a:prstGeom>
          <a:noFill/>
          <a:ln>
            <a:noFill/>
          </a:ln>
        </p:spPr>
      </p:pic>
      <p:sp>
        <p:nvSpPr>
          <p:cNvPr id="7" name="Google Shape;7;p15"/>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marR="0" rtl="0" algn="r">
              <a:lnSpc>
                <a:spcPct val="90000"/>
              </a:lnSpc>
              <a:spcBef>
                <a:spcPts val="0"/>
              </a:spcBef>
              <a:spcAft>
                <a:spcPts val="0"/>
              </a:spcAft>
              <a:buClr>
                <a:schemeClr val="lt1"/>
              </a:buClr>
              <a:buSzPts val="4000"/>
              <a:buFont typeface="Century Gothic"/>
              <a:buNone/>
              <a:defRPr b="0" i="0" sz="40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5"/>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5pPr>
            <a:lvl6pPr indent="-330200" lvl="5" marL="27432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6pPr>
            <a:lvl7pPr indent="-330200" lvl="6" marL="32004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7pPr>
            <a:lvl8pPr indent="-330200" lvl="7" marL="36576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8pPr>
            <a:lvl9pPr indent="-330200" lvl="8" marL="4114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9pPr>
          </a:lstStyle>
          <a:p/>
        </p:txBody>
      </p:sp>
      <p:sp>
        <p:nvSpPr>
          <p:cNvPr id="9" name="Google Shape;9;p15"/>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0" name="Google Shape;10;p15"/>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1" name="Google Shape;11;p1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
          <p:cNvSpPr txBox="1"/>
          <p:nvPr>
            <p:ph type="ctrTitle"/>
          </p:nvPr>
        </p:nvSpPr>
        <p:spPr>
          <a:xfrm>
            <a:off x="1371600" y="1790153"/>
            <a:ext cx="9448800" cy="182509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p:nvPr>
            <p:ph idx="1" type="subTitle"/>
          </p:nvPr>
        </p:nvSpPr>
        <p:spPr>
          <a:xfrm>
            <a:off x="1371600" y="3632200"/>
            <a:ext cx="9448800" cy="1561592"/>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70000"/>
              </a:lnSpc>
              <a:spcBef>
                <a:spcPts val="0"/>
              </a:spcBef>
              <a:spcAft>
                <a:spcPts val="0"/>
              </a:spcAft>
              <a:buClr>
                <a:schemeClr val="lt1"/>
              </a:buClr>
              <a:buSzPts val="1850"/>
              <a:buNone/>
            </a:pPr>
            <a:r>
              <a:rPr lang="en-US" sz="1850"/>
              <a:t>Security Policy Presentation</a:t>
            </a:r>
            <a:endParaRPr/>
          </a:p>
          <a:p>
            <a:pPr indent="0" lvl="0" marL="0" rtl="0" algn="l">
              <a:lnSpc>
                <a:spcPct val="70000"/>
              </a:lnSpc>
              <a:spcBef>
                <a:spcPts val="1000"/>
              </a:spcBef>
              <a:spcAft>
                <a:spcPts val="0"/>
              </a:spcAft>
              <a:buClr>
                <a:schemeClr val="lt1"/>
              </a:buClr>
              <a:buSzPts val="1850"/>
              <a:buNone/>
            </a:pPr>
            <a:r>
              <a:rPr lang="en-US" sz="1850"/>
              <a:t>Developer: </a:t>
            </a:r>
            <a:r>
              <a:rPr i="1" lang="en-US" sz="1850"/>
              <a:t>Aiden Villanueva</a:t>
            </a:r>
            <a:endParaRPr i="1" sz="1850"/>
          </a:p>
          <a:p>
            <a:pPr indent="0" lvl="0" marL="0" rtl="0" algn="l">
              <a:lnSpc>
                <a:spcPct val="70000"/>
              </a:lnSpc>
              <a:spcBef>
                <a:spcPts val="1000"/>
              </a:spcBef>
              <a:spcAft>
                <a:spcPts val="0"/>
              </a:spcAft>
              <a:buClr>
                <a:schemeClr val="lt1"/>
              </a:buClr>
              <a:buSzPts val="1850"/>
              <a:buNone/>
            </a:pPr>
            <a:r>
              <a:t/>
            </a:r>
            <a:endParaRPr i="1" sz="1850"/>
          </a:p>
          <a:p>
            <a:pPr indent="0" lvl="0" marL="0" rtl="0" algn="l">
              <a:lnSpc>
                <a:spcPct val="70000"/>
              </a:lnSpc>
              <a:spcBef>
                <a:spcPts val="1000"/>
              </a:spcBef>
              <a:spcAft>
                <a:spcPts val="0"/>
              </a:spcAft>
              <a:buClr>
                <a:schemeClr val="lt1"/>
              </a:buClr>
              <a:buSzPts val="1850"/>
              <a:buNone/>
            </a:pPr>
            <a:r>
              <a:rPr i="1" lang="en-US" sz="1850"/>
              <a:t>v1.0.0, Aug. 22, 2026</a:t>
            </a:r>
            <a:endParaRPr i="1" sz="1850"/>
          </a:p>
          <a:p>
            <a:pPr indent="0" lvl="0" marL="0" rtl="0" algn="l">
              <a:lnSpc>
                <a:spcPct val="70000"/>
              </a:lnSpc>
              <a:spcBef>
                <a:spcPts val="1000"/>
              </a:spcBef>
              <a:spcAft>
                <a:spcPts val="0"/>
              </a:spcAft>
              <a:buSzPts val="1850"/>
              <a:buNone/>
            </a:pPr>
            <a:r>
              <a:t/>
            </a:r>
            <a:endParaRPr i="1"/>
          </a:p>
        </p:txBody>
      </p:sp>
      <p:pic>
        <p:nvPicPr>
          <p:cNvPr descr="Green Pace logo" id="146" name="Google Shape;146;p1"/>
          <p:cNvPicPr preferRelativeResize="0"/>
          <p:nvPr/>
        </p:nvPicPr>
        <p:blipFill rotWithShape="1">
          <a:blip r:embed="rId3">
            <a:alphaModFix/>
          </a:blip>
          <a:srcRect b="0" l="0" r="0" t="0"/>
          <a:stretch/>
        </p:blipFill>
        <p:spPr>
          <a:xfrm>
            <a:off x="7440774" y="659854"/>
            <a:ext cx="2921424" cy="378677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p:nvPr>
            <p:ph idx="1" type="body"/>
          </p:nvPr>
        </p:nvSpPr>
        <p:spPr>
          <a:xfrm>
            <a:off x="6683700" y="1944100"/>
            <a:ext cx="4605600" cy="45051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1000"/>
              </a:spcBef>
              <a:spcAft>
                <a:spcPts val="0"/>
              </a:spcAft>
              <a:buClr>
                <a:schemeClr val="lt1"/>
              </a:buClr>
              <a:buSzPts val="2200"/>
              <a:buNone/>
            </a:pPr>
            <a:r>
              <a:rPr lang="en-US"/>
              <a:t>Purpose of the Security Policy</a:t>
            </a:r>
            <a:endParaRPr/>
          </a:p>
          <a:p>
            <a:pPr indent="0" lvl="0" marL="0" rtl="0" algn="l">
              <a:lnSpc>
                <a:spcPct val="90000"/>
              </a:lnSpc>
              <a:spcBef>
                <a:spcPts val="1000"/>
              </a:spcBef>
              <a:spcAft>
                <a:spcPts val="0"/>
              </a:spcAft>
              <a:buClr>
                <a:schemeClr val="lt1"/>
              </a:buClr>
              <a:buSzPts val="2200"/>
              <a:buNone/>
            </a:pPr>
            <a:r>
              <a:t/>
            </a:r>
            <a:endParaRPr/>
          </a:p>
          <a:p>
            <a:pPr indent="-342900" lvl="0" marL="457200" rtl="0" algn="l">
              <a:lnSpc>
                <a:spcPct val="90000"/>
              </a:lnSpc>
              <a:spcBef>
                <a:spcPts val="1000"/>
              </a:spcBef>
              <a:spcAft>
                <a:spcPts val="0"/>
              </a:spcAft>
              <a:buSzPts val="1800"/>
              <a:buChar char="•"/>
            </a:pPr>
            <a:r>
              <a:rPr lang="en-US"/>
              <a:t>Standardize existing secure-development practices</a:t>
            </a:r>
            <a:endParaRPr/>
          </a:p>
          <a:p>
            <a:pPr indent="-342900" lvl="0" marL="457200" rtl="0" algn="l">
              <a:lnSpc>
                <a:spcPct val="90000"/>
              </a:lnSpc>
              <a:spcBef>
                <a:spcPts val="0"/>
              </a:spcBef>
              <a:spcAft>
                <a:spcPts val="0"/>
              </a:spcAft>
              <a:buSzPts val="1800"/>
              <a:buChar char="•"/>
            </a:pPr>
            <a:r>
              <a:rPr lang="en-US"/>
              <a:t>Reduce attack surface</a:t>
            </a:r>
            <a:endParaRPr/>
          </a:p>
          <a:p>
            <a:pPr indent="-342900" lvl="0" marL="457200" rtl="0" algn="l">
              <a:lnSpc>
                <a:spcPct val="90000"/>
              </a:lnSpc>
              <a:spcBef>
                <a:spcPts val="0"/>
              </a:spcBef>
              <a:spcAft>
                <a:spcPts val="0"/>
              </a:spcAft>
              <a:buSzPts val="1800"/>
              <a:buChar char="•"/>
            </a:pPr>
            <a:r>
              <a:rPr lang="en-US"/>
              <a:t>Assume components may be vulnerable</a:t>
            </a:r>
            <a:endParaRPr/>
          </a:p>
          <a:p>
            <a:pPr indent="-342900" lvl="0" marL="457200" rtl="0" algn="l">
              <a:lnSpc>
                <a:spcPct val="90000"/>
              </a:lnSpc>
              <a:spcBef>
                <a:spcPts val="0"/>
              </a:spcBef>
              <a:spcAft>
                <a:spcPts val="0"/>
              </a:spcAft>
              <a:buSzPts val="1800"/>
              <a:buChar char="•"/>
            </a:pPr>
            <a:r>
              <a:rPr lang="en-US"/>
              <a:t>Establish repeatable coding and architecture standards</a:t>
            </a:r>
            <a:endParaRPr/>
          </a:p>
          <a:p>
            <a:pPr indent="-342900" lvl="0" marL="457200" rtl="0" algn="l">
              <a:lnSpc>
                <a:spcPct val="90000"/>
              </a:lnSpc>
              <a:spcBef>
                <a:spcPts val="0"/>
              </a:spcBef>
              <a:spcAft>
                <a:spcPts val="0"/>
              </a:spcAft>
              <a:buSzPts val="1800"/>
              <a:buChar char="•"/>
            </a:pPr>
            <a:r>
              <a:rPr lang="en-US"/>
              <a:t>Integrate security throughout development</a:t>
            </a:r>
            <a:endParaRPr/>
          </a:p>
          <a:p>
            <a:pPr indent="-342900" lvl="0" marL="457200" rtl="0" algn="l">
              <a:lnSpc>
                <a:spcPct val="90000"/>
              </a:lnSpc>
              <a:spcBef>
                <a:spcPts val="0"/>
              </a:spcBef>
              <a:spcAft>
                <a:spcPts val="0"/>
              </a:spcAft>
              <a:buSzPts val="1800"/>
              <a:buChar char="•"/>
            </a:pPr>
            <a:r>
              <a:rPr lang="en-US"/>
              <a:t>Support a defense-in-depth strategy</a:t>
            </a:r>
            <a:endParaRPr/>
          </a:p>
        </p:txBody>
      </p:sp>
      <p:pic>
        <p:nvPicPr>
          <p:cNvPr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id="153" name="Google Shape;153;p3"/>
          <p:cNvPicPr preferRelativeResize="0"/>
          <p:nvPr/>
        </p:nvPicPr>
        <p:blipFill rotWithShape="1">
          <a:blip r:embed="rId3">
            <a:alphaModFix/>
          </a:blip>
          <a:srcRect b="0" l="0" r="0" t="0"/>
          <a:stretch/>
        </p:blipFill>
        <p:spPr>
          <a:xfrm>
            <a:off x="83618" y="2057411"/>
            <a:ext cx="6453258" cy="3797196"/>
          </a:xfrm>
          <a:prstGeom prst="rect">
            <a:avLst/>
          </a:prstGeom>
          <a:noFill/>
          <a:ln>
            <a:noFill/>
          </a:ln>
        </p:spPr>
      </p:pic>
      <p:pic>
        <p:nvPicPr>
          <p:cNvPr descr="Green Pace logo" id="154" name="Google Shape;154;p3"/>
          <p:cNvPicPr preferRelativeResize="0"/>
          <p:nvPr/>
        </p:nvPicPr>
        <p:blipFill rotWithShape="1">
          <a:blip r:embed="rId4">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4"/>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p:nvPr>
            <p:ph idx="1" type="body"/>
          </p:nvPr>
        </p:nvSpPr>
        <p:spPr>
          <a:xfrm>
            <a:off x="685800" y="2194550"/>
            <a:ext cx="2486100" cy="4024200"/>
          </a:xfrm>
          <a:prstGeom prst="rect">
            <a:avLst/>
          </a:prstGeom>
          <a:noFill/>
          <a:ln>
            <a:noFill/>
          </a:ln>
        </p:spPr>
        <p:txBody>
          <a:bodyPr anchorCtr="0" anchor="t" bIns="45700" lIns="91425" spcFirstLastPara="1" rIns="91425" wrap="square" tIns="45700">
            <a:normAutofit/>
          </a:bodyPr>
          <a:lstStyle/>
          <a:p>
            <a:pPr indent="-88900" lvl="0" marL="228600" rtl="0" algn="l">
              <a:lnSpc>
                <a:spcPct val="90000"/>
              </a:lnSpc>
              <a:spcBef>
                <a:spcPts val="1000"/>
              </a:spcBef>
              <a:spcAft>
                <a:spcPts val="0"/>
              </a:spcAft>
              <a:buClr>
                <a:schemeClr val="lt1"/>
              </a:buClr>
              <a:buSzPts val="2200"/>
              <a:buNone/>
            </a:pPr>
            <a:r>
              <a:rPr lang="en-US"/>
              <a:t>Ex.:</a:t>
            </a:r>
            <a:endParaRPr/>
          </a:p>
          <a:p>
            <a:pPr indent="-88900" lvl="0" marL="228600" rtl="0" algn="l">
              <a:lnSpc>
                <a:spcPct val="90000"/>
              </a:lnSpc>
              <a:spcBef>
                <a:spcPts val="1000"/>
              </a:spcBef>
              <a:spcAft>
                <a:spcPts val="0"/>
              </a:spcAft>
              <a:buClr>
                <a:schemeClr val="lt1"/>
              </a:buClr>
              <a:buSzPts val="2200"/>
              <a:buNone/>
            </a:pPr>
            <a:r>
              <a:rPr lang="en-US"/>
              <a:t>STD-001 = Likely</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rPr lang="en-US"/>
              <a:t>Automation:</a:t>
            </a:r>
            <a:endParaRPr/>
          </a:p>
          <a:p>
            <a:pPr indent="-342900" lvl="0" marL="457200" rtl="0" algn="l">
              <a:lnSpc>
                <a:spcPct val="90000"/>
              </a:lnSpc>
              <a:spcBef>
                <a:spcPts val="1000"/>
              </a:spcBef>
              <a:spcAft>
                <a:spcPts val="0"/>
              </a:spcAft>
              <a:buSzPts val="1800"/>
              <a:buChar char="•"/>
            </a:pPr>
            <a:r>
              <a:rPr lang="en-US"/>
              <a:t>Clang-Tidy</a:t>
            </a:r>
            <a:endParaRPr/>
          </a:p>
          <a:p>
            <a:pPr indent="-342900" lvl="0" marL="457200" rtl="0" algn="l">
              <a:lnSpc>
                <a:spcPct val="90000"/>
              </a:lnSpc>
              <a:spcBef>
                <a:spcPts val="0"/>
              </a:spcBef>
              <a:spcAft>
                <a:spcPts val="0"/>
              </a:spcAft>
              <a:buSzPts val="1800"/>
              <a:buChar char="•"/>
            </a:pPr>
            <a:r>
              <a:rPr lang="en-US"/>
              <a:t>Cppcheck</a:t>
            </a:r>
            <a:endParaRPr/>
          </a:p>
          <a:p>
            <a:pPr indent="-342900" lvl="0" marL="457200" rtl="0" algn="l">
              <a:spcBef>
                <a:spcPts val="0"/>
              </a:spcBef>
              <a:spcAft>
                <a:spcPts val="0"/>
              </a:spcAft>
              <a:buSzPts val="1800"/>
              <a:buChar char="•"/>
            </a:pPr>
            <a:r>
              <a:rPr lang="en-US"/>
              <a:t>SonarQube</a:t>
            </a:r>
            <a:endParaRPr/>
          </a:p>
          <a:p>
            <a:pPr indent="0" lvl="0" marL="0" rtl="0" algn="l">
              <a:lnSpc>
                <a:spcPct val="90000"/>
              </a:lnSpc>
              <a:spcBef>
                <a:spcPts val="1000"/>
              </a:spcBef>
              <a:spcAft>
                <a:spcPts val="0"/>
              </a:spcAft>
              <a:buNone/>
            </a:pPr>
            <a:r>
              <a:t/>
            </a:r>
            <a:endParaRPr/>
          </a:p>
          <a:p>
            <a:pPr indent="0" lvl="0" marL="0" rtl="0" algn="l">
              <a:lnSpc>
                <a:spcPct val="90000"/>
              </a:lnSpc>
              <a:spcBef>
                <a:spcPts val="1000"/>
              </a:spcBef>
              <a:spcAft>
                <a:spcPts val="0"/>
              </a:spcAft>
              <a:buNone/>
            </a:pPr>
            <a:r>
              <a:rPr lang="en-US"/>
              <a:t>Find threats early!</a:t>
            </a:r>
            <a:endParaRPr/>
          </a:p>
        </p:txBody>
      </p:sp>
      <p:graphicFrame>
        <p:nvGraphicFramePr>
          <p:cNvPr descr="Alt text required" id="161" name="Google Shape;161;p4"/>
          <p:cNvGraphicFramePr/>
          <p:nvPr/>
        </p:nvGraphicFramePr>
        <p:xfrm>
          <a:off x="3210375" y="2057400"/>
          <a:ext cx="3000000" cy="3000000"/>
        </p:xfrm>
        <a:graphic>
          <a:graphicData uri="http://schemas.openxmlformats.org/drawingml/2006/table">
            <a:tbl>
              <a:tblPr firstCol="1" firstRow="1">
                <a:noFill/>
                <a:tableStyleId>{A983F5A4-5A90-43A1-8A2F-36A4CF06700F}</a:tableStyleId>
              </a:tblPr>
              <a:tblGrid>
                <a:gridCol w="4030425"/>
                <a:gridCol w="3804800"/>
              </a:tblGrid>
              <a:tr h="1769325">
                <a:tc>
                  <a:txBody>
                    <a:bodyPr/>
                    <a:lstStyle/>
                    <a:p>
                      <a:pPr indent="0" lvl="0" marL="0" marR="0" rtl="0" algn="ctr">
                        <a:lnSpc>
                          <a:spcPct val="100000"/>
                        </a:lnSpc>
                        <a:spcBef>
                          <a:spcPts val="0"/>
                        </a:spcBef>
                        <a:spcAft>
                          <a:spcPts val="0"/>
                        </a:spcAft>
                        <a:buClr>
                          <a:srgbClr val="000000"/>
                        </a:buClr>
                        <a:buSzPts val="3600"/>
                        <a:buFont typeface="Arial"/>
                        <a:buNone/>
                      </a:pPr>
                      <a:r>
                        <a:rPr lang="en-US" sz="3300" u="none" cap="none" strike="noStrike">
                          <a:solidFill>
                            <a:schemeClr val="accent1"/>
                          </a:solidFill>
                        </a:rPr>
                        <a:t>Likely</a:t>
                      </a:r>
                      <a:endParaRPr sz="1100" u="none" cap="none" strike="noStrike">
                        <a:solidFill>
                          <a:schemeClr val="accent1"/>
                        </a:solidFill>
                      </a:endParaRPr>
                    </a:p>
                    <a:p>
                      <a:pPr indent="0" lvl="0" marL="0" marR="0" rtl="0" algn="ctr">
                        <a:lnSpc>
                          <a:spcPct val="100000"/>
                        </a:lnSpc>
                        <a:spcBef>
                          <a:spcPts val="0"/>
                        </a:spcBef>
                        <a:spcAft>
                          <a:spcPts val="0"/>
                        </a:spcAft>
                        <a:buClr>
                          <a:srgbClr val="000000"/>
                        </a:buClr>
                        <a:buSzPts val="3600"/>
                        <a:buFont typeface="Arial"/>
                        <a:buNone/>
                      </a:pPr>
                      <a:r>
                        <a:rPr lang="en-US" sz="3300"/>
                        <a:t>Threat is known and is often exploited or has high damage.</a:t>
                      </a:r>
                      <a:endParaRPr sz="33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3600"/>
                        <a:buFont typeface="Arial"/>
                        <a:buNone/>
                      </a:pPr>
                      <a:r>
                        <a:rPr lang="en-US" sz="3300">
                          <a:solidFill>
                            <a:schemeClr val="accent3"/>
                          </a:solidFill>
                        </a:rPr>
                        <a:t>Probable</a:t>
                      </a:r>
                      <a:endParaRPr sz="1100" u="none" cap="none" strike="noStrike">
                        <a:solidFill>
                          <a:schemeClr val="accent3"/>
                        </a:solidFill>
                      </a:endParaRPr>
                    </a:p>
                    <a:p>
                      <a:pPr indent="0" lvl="0" marL="0" marR="0" rtl="0" algn="ctr">
                        <a:lnSpc>
                          <a:spcPct val="100000"/>
                        </a:lnSpc>
                        <a:spcBef>
                          <a:spcPts val="0"/>
                        </a:spcBef>
                        <a:spcAft>
                          <a:spcPts val="0"/>
                        </a:spcAft>
                        <a:buClr>
                          <a:srgbClr val="000000"/>
                        </a:buClr>
                        <a:buSzPts val="3600"/>
                        <a:buFont typeface="Arial"/>
                        <a:buNone/>
                      </a:pPr>
                      <a:r>
                        <a:rPr lang="en-US" sz="3300"/>
                        <a:t>Threat is known but not often exploited.</a:t>
                      </a:r>
                      <a:endParaRPr sz="11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chemeClr val="lt2"/>
                    </a:solidFill>
                  </a:tcPr>
                </a:tc>
              </a:tr>
              <a:tr h="1769325">
                <a:tc>
                  <a:txBody>
                    <a:bodyPr/>
                    <a:lstStyle/>
                    <a:p>
                      <a:pPr indent="0" lvl="0" marL="0" marR="0" rtl="0" algn="ctr">
                        <a:lnSpc>
                          <a:spcPct val="100000"/>
                        </a:lnSpc>
                        <a:spcBef>
                          <a:spcPts val="0"/>
                        </a:spcBef>
                        <a:spcAft>
                          <a:spcPts val="0"/>
                        </a:spcAft>
                        <a:buClr>
                          <a:srgbClr val="000000"/>
                        </a:buClr>
                        <a:buSzPts val="3600"/>
                        <a:buFont typeface="Arial"/>
                        <a:buNone/>
                      </a:pPr>
                      <a:r>
                        <a:rPr lang="en-US" sz="3300" u="none" cap="none" strike="noStrike">
                          <a:solidFill>
                            <a:srgbClr val="0000FF"/>
                          </a:solidFill>
                        </a:rPr>
                        <a:t>Low priority</a:t>
                      </a:r>
                      <a:endParaRPr sz="1100" u="none" cap="none" strike="noStrike">
                        <a:solidFill>
                          <a:srgbClr val="0000FF"/>
                        </a:solidFill>
                      </a:endParaRPr>
                    </a:p>
                    <a:p>
                      <a:pPr indent="0" lvl="0" marL="0" marR="0" rtl="0" algn="ctr">
                        <a:lnSpc>
                          <a:spcPct val="100000"/>
                        </a:lnSpc>
                        <a:spcBef>
                          <a:spcPts val="0"/>
                        </a:spcBef>
                        <a:spcAft>
                          <a:spcPts val="0"/>
                        </a:spcAft>
                        <a:buClr>
                          <a:srgbClr val="000000"/>
                        </a:buClr>
                        <a:buSzPts val="3600"/>
                        <a:buFont typeface="Arial"/>
                        <a:buNone/>
                      </a:pPr>
                      <a:r>
                        <a:rPr lang="en-US" sz="3300"/>
                        <a:t>Threat is known but exploit damage is low.</a:t>
                      </a:r>
                      <a:endParaRPr sz="11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3600"/>
                        <a:buFont typeface="Arial"/>
                        <a:buNone/>
                      </a:pPr>
                      <a:r>
                        <a:rPr lang="en-US" sz="3300" u="none" cap="none" strike="noStrike">
                          <a:solidFill>
                            <a:srgbClr val="34BE34"/>
                          </a:solidFill>
                        </a:rPr>
                        <a:t>Unlikely</a:t>
                      </a:r>
                      <a:endParaRPr sz="1100" u="none" cap="none" strike="noStrike">
                        <a:solidFill>
                          <a:srgbClr val="34BE34"/>
                        </a:solidFill>
                      </a:endParaRPr>
                    </a:p>
                    <a:p>
                      <a:pPr indent="0" lvl="0" marL="0" marR="0" rtl="0" algn="ctr">
                        <a:lnSpc>
                          <a:spcPct val="100000"/>
                        </a:lnSpc>
                        <a:spcBef>
                          <a:spcPts val="0"/>
                        </a:spcBef>
                        <a:spcAft>
                          <a:spcPts val="0"/>
                        </a:spcAft>
                        <a:buClr>
                          <a:srgbClr val="000000"/>
                        </a:buClr>
                        <a:buSzPts val="3600"/>
                        <a:buFont typeface="Arial"/>
                        <a:buNone/>
                      </a:pPr>
                      <a:r>
                        <a:rPr lang="en-US" sz="3300"/>
                        <a:t>Threat is unconfirmed or unlikely to appear.</a:t>
                      </a:r>
                      <a:endParaRPr sz="11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chemeClr val="lt2"/>
                    </a:solidFill>
                  </a:tcPr>
                </a:tc>
              </a:tr>
            </a:tbl>
          </a:graphicData>
        </a:graphic>
      </p:graphicFrame>
      <p:pic>
        <p:nvPicPr>
          <p:cNvPr descr="Green Pace logo" id="162" name="Google Shape;162;p4"/>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5"/>
          <p:cNvSpPr txBox="1"/>
          <p:nvPr>
            <p:ph type="title"/>
          </p:nvPr>
        </p:nvSpPr>
        <p:spPr>
          <a:xfrm>
            <a:off x="2895600" y="281698"/>
            <a:ext cx="8610600" cy="129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p:nvPr>
            <p:ph idx="1" type="body"/>
          </p:nvPr>
        </p:nvSpPr>
        <p:spPr>
          <a:xfrm>
            <a:off x="685800" y="1280425"/>
            <a:ext cx="5173200" cy="5309400"/>
          </a:xfrm>
          <a:prstGeom prst="rect">
            <a:avLst/>
          </a:prstGeom>
          <a:noFill/>
          <a:ln>
            <a:noFill/>
          </a:ln>
        </p:spPr>
        <p:txBody>
          <a:bodyPr anchorCtr="0" anchor="t" bIns="45700" lIns="91425" spcFirstLastPara="1" rIns="91425" wrap="square" tIns="45700">
            <a:noAutofit/>
          </a:bodyPr>
          <a:lstStyle/>
          <a:p>
            <a:pPr indent="-381000" lvl="0" marL="457200" rtl="0" algn="l">
              <a:lnSpc>
                <a:spcPct val="90000"/>
              </a:lnSpc>
              <a:spcBef>
                <a:spcPts val="0"/>
              </a:spcBef>
              <a:spcAft>
                <a:spcPts val="0"/>
              </a:spcAft>
              <a:buSzPts val="2400"/>
              <a:buAutoNum type="arabicPeriod"/>
            </a:pPr>
            <a:r>
              <a:rPr lang="en-US" sz="2400"/>
              <a:t>Validate Input Data</a:t>
            </a:r>
            <a:endParaRPr sz="2400"/>
          </a:p>
          <a:p>
            <a:pPr indent="-381000" lvl="1" marL="1371600" rtl="0" algn="l">
              <a:lnSpc>
                <a:spcPct val="90000"/>
              </a:lnSpc>
              <a:spcBef>
                <a:spcPts val="0"/>
              </a:spcBef>
              <a:spcAft>
                <a:spcPts val="0"/>
              </a:spcAft>
              <a:buSzPts val="2400"/>
              <a:buAutoNum type="alphaLcPeriod"/>
            </a:pPr>
            <a:r>
              <a:rPr lang="en-US" sz="2400"/>
              <a:t>STD-1; 3; 4 and 8</a:t>
            </a:r>
            <a:endParaRPr sz="2400"/>
          </a:p>
          <a:p>
            <a:pPr indent="-381000" lvl="0" marL="457200" rtl="0" algn="l">
              <a:lnSpc>
                <a:spcPct val="90000"/>
              </a:lnSpc>
              <a:spcBef>
                <a:spcPts val="0"/>
              </a:spcBef>
              <a:spcAft>
                <a:spcPts val="0"/>
              </a:spcAft>
              <a:buSzPts val="2400"/>
              <a:buAutoNum type="arabicPeriod"/>
            </a:pPr>
            <a:r>
              <a:rPr lang="en-US" sz="2400"/>
              <a:t>Heed Compiler Warnings</a:t>
            </a:r>
            <a:endParaRPr sz="2400"/>
          </a:p>
          <a:p>
            <a:pPr indent="-381000" lvl="1" marL="1371600" rtl="0" algn="l">
              <a:lnSpc>
                <a:spcPct val="90000"/>
              </a:lnSpc>
              <a:spcBef>
                <a:spcPts val="0"/>
              </a:spcBef>
              <a:spcAft>
                <a:spcPts val="0"/>
              </a:spcAft>
              <a:buSzPts val="2400"/>
              <a:buAutoNum type="alphaLcPeriod"/>
            </a:pPr>
            <a:r>
              <a:rPr lang="en-US" sz="2400"/>
              <a:t>STD-6; and 8</a:t>
            </a:r>
            <a:endParaRPr sz="2400"/>
          </a:p>
          <a:p>
            <a:pPr indent="-381000" lvl="0" marL="457200" rtl="0" algn="l">
              <a:lnSpc>
                <a:spcPct val="90000"/>
              </a:lnSpc>
              <a:spcBef>
                <a:spcPts val="0"/>
              </a:spcBef>
              <a:spcAft>
                <a:spcPts val="0"/>
              </a:spcAft>
              <a:buSzPts val="2400"/>
              <a:buAutoNum type="arabicPeriod"/>
            </a:pPr>
            <a:r>
              <a:rPr lang="en-US" sz="2400"/>
              <a:t>Architect and Design for Security Policies</a:t>
            </a:r>
            <a:endParaRPr sz="2400"/>
          </a:p>
          <a:p>
            <a:pPr indent="-381000" lvl="1" marL="1371600" rtl="0" algn="l">
              <a:lnSpc>
                <a:spcPct val="90000"/>
              </a:lnSpc>
              <a:spcBef>
                <a:spcPts val="0"/>
              </a:spcBef>
              <a:spcAft>
                <a:spcPts val="0"/>
              </a:spcAft>
              <a:buSzPts val="2400"/>
              <a:buAutoNum type="alphaLcPeriod"/>
            </a:pPr>
            <a:r>
              <a:rPr lang="en-US" sz="2400"/>
              <a:t>STD-5; 7; 9 and 10</a:t>
            </a:r>
            <a:endParaRPr sz="2400"/>
          </a:p>
          <a:p>
            <a:pPr indent="-381000" lvl="0" marL="457200" rtl="0" algn="l">
              <a:lnSpc>
                <a:spcPct val="90000"/>
              </a:lnSpc>
              <a:spcBef>
                <a:spcPts val="0"/>
              </a:spcBef>
              <a:spcAft>
                <a:spcPts val="0"/>
              </a:spcAft>
              <a:buSzPts val="2400"/>
              <a:buAutoNum type="arabicPeriod"/>
            </a:pPr>
            <a:r>
              <a:rPr lang="en-US" sz="2400"/>
              <a:t>Keep It Simple</a:t>
            </a:r>
            <a:endParaRPr sz="2400"/>
          </a:p>
          <a:p>
            <a:pPr indent="-381000" lvl="1" marL="1371600" rtl="0" algn="l">
              <a:lnSpc>
                <a:spcPct val="90000"/>
              </a:lnSpc>
              <a:spcBef>
                <a:spcPts val="0"/>
              </a:spcBef>
              <a:spcAft>
                <a:spcPts val="0"/>
              </a:spcAft>
              <a:buSzPts val="2400"/>
              <a:buAutoNum type="alphaLcPeriod"/>
            </a:pPr>
            <a:r>
              <a:rPr lang="en-US" sz="2400"/>
              <a:t>STD-4; and 7</a:t>
            </a:r>
            <a:endParaRPr sz="2400"/>
          </a:p>
          <a:p>
            <a:pPr indent="-381000" lvl="0" marL="457200" rtl="0" algn="l">
              <a:lnSpc>
                <a:spcPct val="90000"/>
              </a:lnSpc>
              <a:spcBef>
                <a:spcPts val="0"/>
              </a:spcBef>
              <a:spcAft>
                <a:spcPts val="0"/>
              </a:spcAft>
              <a:buSzPts val="2400"/>
              <a:buAutoNum type="arabicPeriod"/>
            </a:pPr>
            <a:r>
              <a:rPr lang="en-US" sz="2400"/>
              <a:t>Default Deny</a:t>
            </a:r>
            <a:endParaRPr sz="2400"/>
          </a:p>
          <a:p>
            <a:pPr indent="-381000" lvl="1" marL="1371600" rtl="0" algn="l">
              <a:lnSpc>
                <a:spcPct val="90000"/>
              </a:lnSpc>
              <a:spcBef>
                <a:spcPts val="0"/>
              </a:spcBef>
              <a:spcAft>
                <a:spcPts val="0"/>
              </a:spcAft>
              <a:buSzPts val="2400"/>
              <a:buAutoNum type="alphaLcPeriod"/>
            </a:pPr>
            <a:r>
              <a:rPr lang="en-US" sz="2400"/>
              <a:t>STD-3</a:t>
            </a:r>
            <a:endParaRPr sz="2400"/>
          </a:p>
          <a:p>
            <a:pPr indent="0" lvl="0" marL="0" rtl="0" algn="l">
              <a:lnSpc>
                <a:spcPct val="90000"/>
              </a:lnSpc>
              <a:spcBef>
                <a:spcPts val="0"/>
              </a:spcBef>
              <a:spcAft>
                <a:spcPts val="0"/>
              </a:spcAft>
              <a:buNone/>
            </a:pPr>
            <a:r>
              <a:t/>
            </a:r>
            <a:endParaRPr sz="2400"/>
          </a:p>
        </p:txBody>
      </p:sp>
      <p:pic>
        <p:nvPicPr>
          <p:cNvPr descr="Green Pace logo" id="169" name="Google Shape;169;p5"/>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
        <p:nvSpPr>
          <p:cNvPr id="170" name="Google Shape;170;p5"/>
          <p:cNvSpPr txBox="1"/>
          <p:nvPr/>
        </p:nvSpPr>
        <p:spPr>
          <a:xfrm>
            <a:off x="5859000" y="1280425"/>
            <a:ext cx="5173200" cy="4174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US" sz="2400">
                <a:solidFill>
                  <a:schemeClr val="lt1"/>
                </a:solidFill>
                <a:latin typeface="Century Gothic"/>
                <a:ea typeface="Century Gothic"/>
                <a:cs typeface="Century Gothic"/>
                <a:sym typeface="Century Gothic"/>
              </a:rPr>
              <a:t>6. 	Adhere to PoLP</a:t>
            </a:r>
            <a:endParaRPr sz="2400">
              <a:solidFill>
                <a:schemeClr val="lt1"/>
              </a:solidFill>
              <a:latin typeface="Century Gothic"/>
              <a:ea typeface="Century Gothic"/>
              <a:cs typeface="Century Gothic"/>
              <a:sym typeface="Century Gothic"/>
            </a:endParaRPr>
          </a:p>
          <a:p>
            <a:pPr indent="-381000" lvl="1" marL="1371600" rtl="0" algn="l">
              <a:lnSpc>
                <a:spcPct val="90000"/>
              </a:lnSpc>
              <a:spcBef>
                <a:spcPts val="0"/>
              </a:spcBef>
              <a:spcAft>
                <a:spcPts val="0"/>
              </a:spcAft>
              <a:buClr>
                <a:schemeClr val="lt1"/>
              </a:buClr>
              <a:buSzPts val="2400"/>
              <a:buAutoNum type="alphaLcPeriod"/>
            </a:pPr>
            <a:r>
              <a:rPr lang="en-US" sz="2400">
                <a:solidFill>
                  <a:schemeClr val="lt1"/>
                </a:solidFill>
                <a:latin typeface="Century Gothic"/>
                <a:ea typeface="Century Gothic"/>
                <a:cs typeface="Century Gothic"/>
                <a:sym typeface="Century Gothic"/>
              </a:rPr>
              <a:t>STD-10</a:t>
            </a:r>
            <a:endParaRPr sz="2400">
              <a:solidFill>
                <a:schemeClr val="lt1"/>
              </a:solidFill>
              <a:latin typeface="Century Gothic"/>
              <a:ea typeface="Century Gothic"/>
              <a:cs typeface="Century Gothic"/>
              <a:sym typeface="Century Gothic"/>
            </a:endParaRPr>
          </a:p>
          <a:p>
            <a:pPr indent="0" lvl="0" marL="0" rtl="0" algn="l">
              <a:lnSpc>
                <a:spcPct val="90000"/>
              </a:lnSpc>
              <a:spcBef>
                <a:spcPts val="0"/>
              </a:spcBef>
              <a:spcAft>
                <a:spcPts val="0"/>
              </a:spcAft>
              <a:buNone/>
            </a:pPr>
            <a:r>
              <a:rPr lang="en-US" sz="2400">
                <a:solidFill>
                  <a:schemeClr val="lt1"/>
                </a:solidFill>
                <a:latin typeface="Century Gothic"/>
                <a:ea typeface="Century Gothic"/>
                <a:cs typeface="Century Gothic"/>
                <a:sym typeface="Century Gothic"/>
              </a:rPr>
              <a:t>7. 	Sanitize Data</a:t>
            </a:r>
            <a:endParaRPr sz="2400">
              <a:solidFill>
                <a:schemeClr val="lt1"/>
              </a:solidFill>
              <a:latin typeface="Century Gothic"/>
              <a:ea typeface="Century Gothic"/>
              <a:cs typeface="Century Gothic"/>
              <a:sym typeface="Century Gothic"/>
            </a:endParaRPr>
          </a:p>
          <a:p>
            <a:pPr indent="-381000" lvl="1" marL="1371600" rtl="0" algn="l">
              <a:lnSpc>
                <a:spcPct val="90000"/>
              </a:lnSpc>
              <a:spcBef>
                <a:spcPts val="0"/>
              </a:spcBef>
              <a:spcAft>
                <a:spcPts val="0"/>
              </a:spcAft>
              <a:buClr>
                <a:schemeClr val="lt1"/>
              </a:buClr>
              <a:buSzPts val="2400"/>
              <a:buAutoNum type="alphaLcPeriod"/>
            </a:pPr>
            <a:r>
              <a:rPr lang="en-US" sz="2400">
                <a:solidFill>
                  <a:schemeClr val="lt1"/>
                </a:solidFill>
                <a:latin typeface="Century Gothic"/>
                <a:ea typeface="Century Gothic"/>
                <a:cs typeface="Century Gothic"/>
                <a:sym typeface="Century Gothic"/>
              </a:rPr>
              <a:t>STD-4</a:t>
            </a:r>
            <a:endParaRPr sz="2400">
              <a:solidFill>
                <a:schemeClr val="lt1"/>
              </a:solidFill>
              <a:latin typeface="Century Gothic"/>
              <a:ea typeface="Century Gothic"/>
              <a:cs typeface="Century Gothic"/>
              <a:sym typeface="Century Gothic"/>
            </a:endParaRPr>
          </a:p>
          <a:p>
            <a:pPr indent="0" lvl="0" marL="0" rtl="0" algn="l">
              <a:lnSpc>
                <a:spcPct val="90000"/>
              </a:lnSpc>
              <a:spcBef>
                <a:spcPts val="0"/>
              </a:spcBef>
              <a:spcAft>
                <a:spcPts val="0"/>
              </a:spcAft>
              <a:buNone/>
            </a:pPr>
            <a:r>
              <a:rPr lang="en-US" sz="2400">
                <a:solidFill>
                  <a:schemeClr val="lt1"/>
                </a:solidFill>
                <a:latin typeface="Century Gothic"/>
                <a:ea typeface="Century Gothic"/>
                <a:cs typeface="Century Gothic"/>
                <a:sym typeface="Century Gothic"/>
              </a:rPr>
              <a:t>8. 	Practice Defense in Depth</a:t>
            </a:r>
            <a:endParaRPr sz="2400">
              <a:solidFill>
                <a:schemeClr val="lt1"/>
              </a:solidFill>
              <a:latin typeface="Century Gothic"/>
              <a:ea typeface="Century Gothic"/>
              <a:cs typeface="Century Gothic"/>
              <a:sym typeface="Century Gothic"/>
            </a:endParaRPr>
          </a:p>
          <a:p>
            <a:pPr indent="-381000" lvl="1" marL="1371600" rtl="0" algn="l">
              <a:lnSpc>
                <a:spcPct val="90000"/>
              </a:lnSpc>
              <a:spcBef>
                <a:spcPts val="0"/>
              </a:spcBef>
              <a:spcAft>
                <a:spcPts val="0"/>
              </a:spcAft>
              <a:buClr>
                <a:schemeClr val="lt1"/>
              </a:buClr>
              <a:buSzPts val="2400"/>
              <a:buAutoNum type="alphaLcPeriod"/>
            </a:pPr>
            <a:r>
              <a:rPr lang="en-US" sz="2400">
                <a:solidFill>
                  <a:schemeClr val="lt1"/>
                </a:solidFill>
                <a:latin typeface="Century Gothic"/>
                <a:ea typeface="Century Gothic"/>
                <a:cs typeface="Century Gothic"/>
                <a:sym typeface="Century Gothic"/>
              </a:rPr>
              <a:t>STD-4</a:t>
            </a:r>
            <a:endParaRPr sz="2400">
              <a:solidFill>
                <a:schemeClr val="lt1"/>
              </a:solidFill>
              <a:latin typeface="Century Gothic"/>
              <a:ea typeface="Century Gothic"/>
              <a:cs typeface="Century Gothic"/>
              <a:sym typeface="Century Gothic"/>
            </a:endParaRPr>
          </a:p>
          <a:p>
            <a:pPr indent="0" lvl="0" marL="0" rtl="0" algn="l">
              <a:lnSpc>
                <a:spcPct val="90000"/>
              </a:lnSpc>
              <a:spcBef>
                <a:spcPts val="0"/>
              </a:spcBef>
              <a:spcAft>
                <a:spcPts val="0"/>
              </a:spcAft>
              <a:buNone/>
            </a:pPr>
            <a:r>
              <a:rPr lang="en-US" sz="2400">
                <a:solidFill>
                  <a:schemeClr val="lt1"/>
                </a:solidFill>
                <a:latin typeface="Century Gothic"/>
                <a:ea typeface="Century Gothic"/>
                <a:cs typeface="Century Gothic"/>
                <a:sym typeface="Century Gothic"/>
              </a:rPr>
              <a:t>9.	Use Effective QA</a:t>
            </a:r>
            <a:endParaRPr sz="2400">
              <a:solidFill>
                <a:schemeClr val="lt1"/>
              </a:solidFill>
              <a:latin typeface="Century Gothic"/>
              <a:ea typeface="Century Gothic"/>
              <a:cs typeface="Century Gothic"/>
              <a:sym typeface="Century Gothic"/>
            </a:endParaRPr>
          </a:p>
          <a:p>
            <a:pPr indent="-381000" lvl="1" marL="1371600" rtl="0" algn="l">
              <a:lnSpc>
                <a:spcPct val="90000"/>
              </a:lnSpc>
              <a:spcBef>
                <a:spcPts val="0"/>
              </a:spcBef>
              <a:spcAft>
                <a:spcPts val="0"/>
              </a:spcAft>
              <a:buClr>
                <a:schemeClr val="lt1"/>
              </a:buClr>
              <a:buSzPts val="2400"/>
              <a:buAutoNum type="alphaLcPeriod"/>
            </a:pPr>
            <a:r>
              <a:rPr lang="en-US" sz="2400">
                <a:solidFill>
                  <a:schemeClr val="lt1"/>
                </a:solidFill>
                <a:latin typeface="Century Gothic"/>
                <a:ea typeface="Century Gothic"/>
                <a:cs typeface="Century Gothic"/>
                <a:sym typeface="Century Gothic"/>
              </a:rPr>
              <a:t>STD-2 and 6</a:t>
            </a:r>
            <a:endParaRPr sz="2400">
              <a:solidFill>
                <a:schemeClr val="lt1"/>
              </a:solidFill>
              <a:latin typeface="Century Gothic"/>
              <a:ea typeface="Century Gothic"/>
              <a:cs typeface="Century Gothic"/>
              <a:sym typeface="Century Gothic"/>
            </a:endParaRPr>
          </a:p>
          <a:p>
            <a:pPr indent="0" lvl="0" marL="0" rtl="0" algn="l">
              <a:lnSpc>
                <a:spcPct val="90000"/>
              </a:lnSpc>
              <a:spcBef>
                <a:spcPts val="0"/>
              </a:spcBef>
              <a:spcAft>
                <a:spcPts val="0"/>
              </a:spcAft>
              <a:buNone/>
            </a:pPr>
            <a:r>
              <a:rPr lang="en-US" sz="2400">
                <a:solidFill>
                  <a:schemeClr val="lt1"/>
                </a:solidFill>
                <a:latin typeface="Century Gothic"/>
                <a:ea typeface="Century Gothic"/>
                <a:cs typeface="Century Gothic"/>
                <a:sym typeface="Century Gothic"/>
              </a:rPr>
              <a:t>10.	Adopt a Secure Standard</a:t>
            </a:r>
            <a:endParaRPr sz="2400">
              <a:solidFill>
                <a:schemeClr val="lt1"/>
              </a:solidFill>
              <a:latin typeface="Century Gothic"/>
              <a:ea typeface="Century Gothic"/>
              <a:cs typeface="Century Gothic"/>
              <a:sym typeface="Century Gothic"/>
            </a:endParaRPr>
          </a:p>
          <a:p>
            <a:pPr indent="-381000" lvl="1" marL="1371600" rtl="0" algn="l">
              <a:lnSpc>
                <a:spcPct val="90000"/>
              </a:lnSpc>
              <a:spcBef>
                <a:spcPts val="0"/>
              </a:spcBef>
              <a:spcAft>
                <a:spcPts val="0"/>
              </a:spcAft>
              <a:buClr>
                <a:schemeClr val="lt1"/>
              </a:buClr>
              <a:buSzPts val="2400"/>
              <a:buAutoNum type="alphaLcPeriod"/>
            </a:pPr>
            <a:r>
              <a:rPr lang="en-US" sz="2400">
                <a:solidFill>
                  <a:schemeClr val="lt1"/>
                </a:solidFill>
                <a:latin typeface="Century Gothic"/>
                <a:ea typeface="Century Gothic"/>
                <a:cs typeface="Century Gothic"/>
                <a:sym typeface="Century Gothic"/>
              </a:rPr>
              <a:t>STD-1; 5 and 9</a:t>
            </a:r>
            <a:endParaRPr sz="2400">
              <a:solidFill>
                <a:schemeClr val="lt1"/>
              </a:solidFill>
              <a:latin typeface="Century Gothic"/>
              <a:ea typeface="Century Gothic"/>
              <a:cs typeface="Century Gothic"/>
              <a:sym typeface="Century Gothic"/>
            </a:endParaRPr>
          </a:p>
          <a:p>
            <a:pPr indent="0" lvl="0" marL="0" rtl="0" algn="l">
              <a:lnSpc>
                <a:spcPct val="90000"/>
              </a:lnSpc>
              <a:spcBef>
                <a:spcPts val="0"/>
              </a:spcBef>
              <a:spcAft>
                <a:spcPts val="0"/>
              </a:spcAft>
              <a:buClr>
                <a:schemeClr val="dk1"/>
              </a:buClr>
              <a:buSzPts val="1100"/>
              <a:buFont typeface="Arial"/>
              <a:buNone/>
            </a:pPr>
            <a:r>
              <a:t/>
            </a:r>
            <a:endParaRPr sz="2400">
              <a:solidFill>
                <a:schemeClr val="lt1"/>
              </a:solidFill>
              <a:latin typeface="Century Gothic"/>
              <a:ea typeface="Century Gothic"/>
              <a:cs typeface="Century Gothic"/>
              <a:sym typeface="Century Gothic"/>
            </a:endParaRPr>
          </a:p>
          <a:p>
            <a:pPr indent="0" lvl="0" marL="0" rtl="0" algn="l">
              <a:lnSpc>
                <a:spcPct val="90000"/>
              </a:lnSpc>
              <a:spcBef>
                <a:spcPts val="0"/>
              </a:spcBef>
              <a:spcAft>
                <a:spcPts val="0"/>
              </a:spcAft>
              <a:buNone/>
            </a:pPr>
            <a:r>
              <a:t/>
            </a:r>
            <a:endParaRPr sz="2400">
              <a:solidFill>
                <a:schemeClr val="lt1"/>
              </a:solidFill>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6"/>
          <p:cNvSpPr txBox="1"/>
          <p:nvPr>
            <p:ph type="title"/>
          </p:nvPr>
        </p:nvSpPr>
        <p:spPr>
          <a:xfrm>
            <a:off x="2895600" y="241473"/>
            <a:ext cx="8610600" cy="129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CODING STANDARDS</a:t>
            </a:r>
            <a:endParaRPr/>
          </a:p>
        </p:txBody>
      </p:sp>
      <p:sp>
        <p:nvSpPr>
          <p:cNvPr id="176" name="Google Shape;176;p6"/>
          <p:cNvSpPr txBox="1"/>
          <p:nvPr>
            <p:ph idx="1" type="body"/>
          </p:nvPr>
        </p:nvSpPr>
        <p:spPr>
          <a:xfrm>
            <a:off x="685800" y="1534475"/>
            <a:ext cx="10820400" cy="4684200"/>
          </a:xfrm>
          <a:prstGeom prst="rect">
            <a:avLst/>
          </a:prstGeom>
          <a:noFill/>
          <a:ln>
            <a:noFill/>
          </a:ln>
        </p:spPr>
        <p:txBody>
          <a:bodyPr anchorCtr="0" anchor="t" bIns="45700" lIns="91425" spcFirstLastPara="1" rIns="91425" wrap="square" tIns="45700">
            <a:normAutofit/>
          </a:bodyPr>
          <a:lstStyle/>
          <a:p>
            <a:pPr indent="-368300" lvl="0" marL="457200" rtl="0" algn="l">
              <a:lnSpc>
                <a:spcPct val="90000"/>
              </a:lnSpc>
              <a:spcBef>
                <a:spcPts val="0"/>
              </a:spcBef>
              <a:spcAft>
                <a:spcPts val="0"/>
              </a:spcAft>
              <a:buSzPts val="2200"/>
              <a:buChar char="•"/>
            </a:pPr>
            <a:r>
              <a:rPr lang="en-US"/>
              <a:t>STD-001-CPP (STR-050-CPP) Data Types</a:t>
            </a:r>
            <a:endParaRPr/>
          </a:p>
          <a:p>
            <a:pPr indent="-368300" lvl="1" marL="914400" rtl="0" algn="l">
              <a:lnSpc>
                <a:spcPct val="90000"/>
              </a:lnSpc>
              <a:spcBef>
                <a:spcPts val="0"/>
              </a:spcBef>
              <a:spcAft>
                <a:spcPts val="0"/>
              </a:spcAft>
              <a:buSzPts val="2200"/>
              <a:buChar char="•"/>
            </a:pPr>
            <a:r>
              <a:rPr lang="en-US" sz="2200"/>
              <a:t>Guarantee that storage for strings has sufficient space</a:t>
            </a:r>
            <a:endParaRPr sz="2200"/>
          </a:p>
          <a:p>
            <a:pPr indent="-368300" lvl="0" marL="457200" rtl="0" algn="l">
              <a:lnSpc>
                <a:spcPct val="90000"/>
              </a:lnSpc>
              <a:spcBef>
                <a:spcPts val="0"/>
              </a:spcBef>
              <a:spcAft>
                <a:spcPts val="0"/>
              </a:spcAft>
              <a:buSzPts val="2200"/>
              <a:buChar char="•"/>
            </a:pPr>
            <a:r>
              <a:rPr lang="en-US"/>
              <a:t>STD-002-CPP (EXP-062-CPP) Data Value</a:t>
            </a:r>
            <a:endParaRPr/>
          </a:p>
          <a:p>
            <a:pPr indent="-368300" lvl="1" marL="914400" rtl="0" algn="l">
              <a:lnSpc>
                <a:spcPct val="90000"/>
              </a:lnSpc>
              <a:spcBef>
                <a:spcPts val="0"/>
              </a:spcBef>
              <a:spcAft>
                <a:spcPts val="0"/>
              </a:spcAft>
              <a:buSzPts val="2200"/>
              <a:buChar char="•"/>
            </a:pPr>
            <a:r>
              <a:rPr lang="en-US" sz="2200"/>
              <a:t>Do not access the bits of an object that are not part of the object’s value.</a:t>
            </a:r>
            <a:endParaRPr sz="2200"/>
          </a:p>
          <a:p>
            <a:pPr indent="-368300" lvl="0" marL="457200" rtl="0" algn="l">
              <a:lnSpc>
                <a:spcPct val="90000"/>
              </a:lnSpc>
              <a:spcBef>
                <a:spcPts val="0"/>
              </a:spcBef>
              <a:spcAft>
                <a:spcPts val="0"/>
              </a:spcAft>
              <a:buSzPts val="2200"/>
              <a:buChar char="•"/>
            </a:pPr>
            <a:r>
              <a:rPr lang="en-US"/>
              <a:t>STD-003-CPP (STR-051-CPP) String Correctness</a:t>
            </a:r>
            <a:endParaRPr/>
          </a:p>
          <a:p>
            <a:pPr indent="-368300" lvl="1" marL="914400" rtl="0" algn="l">
              <a:lnSpc>
                <a:spcPct val="90000"/>
              </a:lnSpc>
              <a:spcBef>
                <a:spcPts val="0"/>
              </a:spcBef>
              <a:spcAft>
                <a:spcPts val="0"/>
              </a:spcAft>
              <a:buSzPts val="2200"/>
              <a:buChar char="•"/>
            </a:pPr>
            <a:r>
              <a:rPr lang="en-US" sz="2200"/>
              <a:t>Do not attempt to create a std::string from a null pointer.</a:t>
            </a:r>
            <a:endParaRPr sz="2200"/>
          </a:p>
          <a:p>
            <a:pPr indent="-368300" lvl="0" marL="457200" rtl="0" algn="l">
              <a:lnSpc>
                <a:spcPct val="90000"/>
              </a:lnSpc>
              <a:spcBef>
                <a:spcPts val="0"/>
              </a:spcBef>
              <a:spcAft>
                <a:spcPts val="0"/>
              </a:spcAft>
              <a:buSzPts val="2200"/>
              <a:buChar char="•"/>
            </a:pPr>
            <a:r>
              <a:rPr lang="en-US"/>
              <a:t>STD-004-CPP (SQL-051-CPP) SQL Injection</a:t>
            </a:r>
            <a:endParaRPr/>
          </a:p>
          <a:p>
            <a:pPr indent="-368300" lvl="1" marL="914400" rtl="0" algn="l">
              <a:lnSpc>
                <a:spcPct val="90000"/>
              </a:lnSpc>
              <a:spcBef>
                <a:spcPts val="0"/>
              </a:spcBef>
              <a:spcAft>
                <a:spcPts val="0"/>
              </a:spcAft>
              <a:buSzPts val="2200"/>
              <a:buChar char="•"/>
            </a:pPr>
            <a:r>
              <a:rPr lang="en-US" sz="2200"/>
              <a:t>Prevent SQL Injection Through Parameterized Queries.</a:t>
            </a:r>
            <a:endParaRPr sz="2200"/>
          </a:p>
          <a:p>
            <a:pPr indent="-368300" lvl="0" marL="457200" rtl="0" algn="l">
              <a:lnSpc>
                <a:spcPct val="90000"/>
              </a:lnSpc>
              <a:spcBef>
                <a:spcPts val="0"/>
              </a:spcBef>
              <a:spcAft>
                <a:spcPts val="0"/>
              </a:spcAft>
              <a:buSzPts val="2200"/>
              <a:buChar char="•"/>
            </a:pPr>
            <a:r>
              <a:rPr lang="en-US"/>
              <a:t>STD-005-CPP (MEM-051-CPP) Memory Protection</a:t>
            </a:r>
            <a:endParaRPr/>
          </a:p>
          <a:p>
            <a:pPr indent="-368300" lvl="1" marL="914400" rtl="0" algn="l">
              <a:lnSpc>
                <a:spcPct val="90000"/>
              </a:lnSpc>
              <a:spcBef>
                <a:spcPts val="0"/>
              </a:spcBef>
              <a:spcAft>
                <a:spcPts val="0"/>
              </a:spcAft>
              <a:buSzPts val="2200"/>
              <a:buChar char="•"/>
            </a:pPr>
            <a:r>
              <a:rPr lang="en-US" sz="2200"/>
              <a:t>Do not call a deallocation function on anything other than nullptr, or a pointer returned by the corresponding allocation function.</a:t>
            </a:r>
            <a:endParaRPr sz="2200"/>
          </a:p>
        </p:txBody>
      </p:sp>
      <p:pic>
        <p:nvPicPr>
          <p:cNvPr descr="Green Pace logo" id="177" name="Google Shape;177;p6"/>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fac9afabbe_0_5"/>
          <p:cNvSpPr txBox="1"/>
          <p:nvPr>
            <p:ph type="title"/>
          </p:nvPr>
        </p:nvSpPr>
        <p:spPr>
          <a:xfrm>
            <a:off x="2895600" y="241473"/>
            <a:ext cx="8610600" cy="129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CODING STANDARDS CONT.</a:t>
            </a:r>
            <a:endParaRPr/>
          </a:p>
        </p:txBody>
      </p:sp>
      <p:sp>
        <p:nvSpPr>
          <p:cNvPr id="183" name="Google Shape;183;g3fac9afabbe_0_5"/>
          <p:cNvSpPr txBox="1"/>
          <p:nvPr>
            <p:ph idx="1" type="body"/>
          </p:nvPr>
        </p:nvSpPr>
        <p:spPr>
          <a:xfrm>
            <a:off x="685800" y="1534475"/>
            <a:ext cx="10820400" cy="4684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Char char="•"/>
            </a:pPr>
            <a:r>
              <a:rPr lang="en-US"/>
              <a:t>STD-006-CPP (AST-050-CPP) Assertions</a:t>
            </a:r>
            <a:endParaRPr/>
          </a:p>
          <a:p>
            <a:pPr indent="-368300" lvl="1" marL="914400" rtl="0" algn="l">
              <a:lnSpc>
                <a:spcPct val="90000"/>
              </a:lnSpc>
              <a:spcBef>
                <a:spcPts val="0"/>
              </a:spcBef>
              <a:spcAft>
                <a:spcPts val="0"/>
              </a:spcAft>
              <a:buSzPts val="2200"/>
              <a:buChar char="•"/>
            </a:pPr>
            <a:r>
              <a:rPr lang="en-US" sz="2200"/>
              <a:t>Do Not Use Assertions for Runtime Error Handling.</a:t>
            </a:r>
            <a:endParaRPr sz="2200"/>
          </a:p>
          <a:p>
            <a:pPr indent="-342900" lvl="0" marL="457200" rtl="0" algn="l">
              <a:lnSpc>
                <a:spcPct val="90000"/>
              </a:lnSpc>
              <a:spcBef>
                <a:spcPts val="0"/>
              </a:spcBef>
              <a:spcAft>
                <a:spcPts val="0"/>
              </a:spcAft>
              <a:buSzPts val="1800"/>
              <a:buChar char="•"/>
            </a:pPr>
            <a:r>
              <a:rPr lang="en-US"/>
              <a:t>STD-007-CPP (ERR-058-CPP) Exceptions</a:t>
            </a:r>
            <a:endParaRPr/>
          </a:p>
          <a:p>
            <a:pPr indent="-368300" lvl="1" marL="914400" rtl="0" algn="l">
              <a:lnSpc>
                <a:spcPct val="90000"/>
              </a:lnSpc>
              <a:spcBef>
                <a:spcPts val="0"/>
              </a:spcBef>
              <a:spcAft>
                <a:spcPts val="0"/>
              </a:spcAft>
              <a:buSzPts val="2200"/>
              <a:buChar char="•"/>
            </a:pPr>
            <a:r>
              <a:rPr lang="en-US" sz="2200"/>
              <a:t>Not all exceptions can be caught, even with careful use of function-try-blocks. </a:t>
            </a:r>
            <a:endParaRPr sz="2200"/>
          </a:p>
          <a:p>
            <a:pPr indent="-368300" lvl="1" marL="914400" rtl="0" algn="l">
              <a:lnSpc>
                <a:spcPct val="90000"/>
              </a:lnSpc>
              <a:spcBef>
                <a:spcPts val="0"/>
              </a:spcBef>
              <a:spcAft>
                <a:spcPts val="0"/>
              </a:spcAft>
              <a:buSzPts val="2200"/>
              <a:buChar char="•"/>
            </a:pPr>
            <a:r>
              <a:rPr lang="en-US" sz="2200"/>
              <a:t>When declaring an object with static or thread storage duration, the type’s constructor must be declared </a:t>
            </a:r>
            <a:r>
              <a:rPr b="1" lang="en-US" sz="2200"/>
              <a:t>noexcept</a:t>
            </a:r>
            <a:r>
              <a:rPr lang="en-US" sz="2200"/>
              <a:t>.</a:t>
            </a:r>
            <a:endParaRPr sz="2200"/>
          </a:p>
          <a:p>
            <a:pPr indent="-342900" lvl="0" marL="457200" rtl="0" algn="l">
              <a:lnSpc>
                <a:spcPct val="90000"/>
              </a:lnSpc>
              <a:spcBef>
                <a:spcPts val="0"/>
              </a:spcBef>
              <a:spcAft>
                <a:spcPts val="0"/>
              </a:spcAft>
              <a:buSzPts val="1800"/>
              <a:buChar char="•"/>
            </a:pPr>
            <a:r>
              <a:rPr lang="en-US"/>
              <a:t>STD-008-CPP (INT-050-CPP) Integers</a:t>
            </a:r>
            <a:endParaRPr/>
          </a:p>
          <a:p>
            <a:pPr indent="-368300" lvl="1" marL="914400" rtl="0" algn="l">
              <a:lnSpc>
                <a:spcPct val="90000"/>
              </a:lnSpc>
              <a:spcBef>
                <a:spcPts val="0"/>
              </a:spcBef>
              <a:spcAft>
                <a:spcPts val="0"/>
              </a:spcAft>
              <a:buSzPts val="2200"/>
              <a:buChar char="•"/>
            </a:pPr>
            <a:r>
              <a:rPr lang="en-US" sz="2200"/>
              <a:t>When using enumeration, the arithmetic value being cast must be within the range of values the enumeration can represent.</a:t>
            </a:r>
            <a:endParaRPr sz="2200"/>
          </a:p>
          <a:p>
            <a:pPr indent="-342900" lvl="0" marL="457200" rtl="0" algn="l">
              <a:lnSpc>
                <a:spcPct val="90000"/>
              </a:lnSpc>
              <a:spcBef>
                <a:spcPts val="0"/>
              </a:spcBef>
              <a:spcAft>
                <a:spcPts val="0"/>
              </a:spcAft>
              <a:buSzPts val="1800"/>
              <a:buChar char="•"/>
            </a:pPr>
            <a:r>
              <a:rPr lang="en-US"/>
              <a:t>STD-009-CPP (FIO-050-CPP) File Input/Output</a:t>
            </a:r>
            <a:endParaRPr/>
          </a:p>
          <a:p>
            <a:pPr indent="-368300" lvl="1" marL="914400" rtl="0" algn="l">
              <a:lnSpc>
                <a:spcPct val="90000"/>
              </a:lnSpc>
              <a:spcBef>
                <a:spcPts val="0"/>
              </a:spcBef>
              <a:spcAft>
                <a:spcPts val="0"/>
              </a:spcAft>
              <a:buSzPts val="2200"/>
              <a:buChar char="•"/>
            </a:pPr>
            <a:r>
              <a:rPr lang="en-US" sz="2200"/>
              <a:t>Do not alternately input and output from a file stream without an intervening positioning call.</a:t>
            </a:r>
            <a:endParaRPr sz="2200"/>
          </a:p>
          <a:p>
            <a:pPr indent="-342900" lvl="0" marL="457200" rtl="0" algn="l">
              <a:lnSpc>
                <a:spcPct val="90000"/>
              </a:lnSpc>
              <a:spcBef>
                <a:spcPts val="0"/>
              </a:spcBef>
              <a:spcAft>
                <a:spcPts val="0"/>
              </a:spcAft>
              <a:buSzPts val="1800"/>
              <a:buChar char="•"/>
            </a:pPr>
            <a:r>
              <a:rPr lang="en-US"/>
              <a:t>STD-010-CPP (CRT-056-CPP) Containers</a:t>
            </a:r>
            <a:endParaRPr/>
          </a:p>
          <a:p>
            <a:pPr indent="-368300" lvl="1" marL="914400" rtl="0" algn="l">
              <a:lnSpc>
                <a:spcPct val="90000"/>
              </a:lnSpc>
              <a:spcBef>
                <a:spcPts val="0"/>
              </a:spcBef>
              <a:spcAft>
                <a:spcPts val="0"/>
              </a:spcAft>
              <a:buSzPts val="2200"/>
              <a:buChar char="•"/>
            </a:pPr>
            <a:r>
              <a:rPr lang="en-US" sz="2200"/>
              <a:t>Do not use pointer arithmetic on polymorphic objects.</a:t>
            </a:r>
            <a:endParaRPr sz="2200"/>
          </a:p>
        </p:txBody>
      </p:sp>
      <p:pic>
        <p:nvPicPr>
          <p:cNvPr descr="Green Pace logo" id="184" name="Google Shape;184;g3fac9afabbe_0_5"/>
          <p:cNvPicPr preferRelativeResize="0"/>
          <p:nvPr/>
        </p:nvPicPr>
        <p:blipFill rotWithShape="1">
          <a:blip r:embed="rId3">
            <a:alphaModFix/>
          </a:blip>
          <a:srcRect b="0" l="0" r="0" t="0"/>
          <a:stretch/>
        </p:blipFill>
        <p:spPr>
          <a:xfrm>
            <a:off x="11084074" y="5440526"/>
            <a:ext cx="886601" cy="114922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7"/>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ENCRYPTION POLICIES</a:t>
            </a:r>
            <a:endParaRPr/>
          </a:p>
        </p:txBody>
      </p:sp>
      <p:sp>
        <p:nvSpPr>
          <p:cNvPr id="190" name="Google Shape;190;p7"/>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lang="en-US"/>
              <a:t>At Rest:</a:t>
            </a:r>
            <a:endParaRPr/>
          </a:p>
          <a:p>
            <a:pPr indent="-342900" lvl="1" marL="914400" rtl="0" algn="l">
              <a:lnSpc>
                <a:spcPct val="90000"/>
              </a:lnSpc>
              <a:spcBef>
                <a:spcPts val="0"/>
              </a:spcBef>
              <a:spcAft>
                <a:spcPts val="0"/>
              </a:spcAft>
              <a:buSzPts val="1800"/>
              <a:buChar char="•"/>
            </a:pPr>
            <a:r>
              <a:rPr lang="en-US"/>
              <a:t>Applies to data in storage on disks, in databases and backup media.</a:t>
            </a:r>
            <a:endParaRPr/>
          </a:p>
          <a:p>
            <a:pPr indent="-342900" lvl="1" marL="914400" rtl="0" algn="l">
              <a:lnSpc>
                <a:spcPct val="90000"/>
              </a:lnSpc>
              <a:spcBef>
                <a:spcPts val="0"/>
              </a:spcBef>
              <a:spcAft>
                <a:spcPts val="0"/>
              </a:spcAft>
              <a:buSzPts val="1800"/>
              <a:buChar char="•"/>
            </a:pPr>
            <a:r>
              <a:rPr lang="en-US"/>
              <a:t>Use AES-256 </a:t>
            </a:r>
            <a:r>
              <a:rPr lang="en-US"/>
              <a:t>encryption.</a:t>
            </a:r>
            <a:endParaRPr/>
          </a:p>
          <a:p>
            <a:pPr indent="-342900" lvl="1" marL="914400" rtl="0" algn="l">
              <a:lnSpc>
                <a:spcPct val="90000"/>
              </a:lnSpc>
              <a:spcBef>
                <a:spcPts val="0"/>
              </a:spcBef>
              <a:spcAft>
                <a:spcPts val="0"/>
              </a:spcAft>
              <a:buSzPts val="1800"/>
              <a:buChar char="•"/>
            </a:pPr>
            <a:r>
              <a:rPr lang="en-US"/>
              <a:t>Prevents unauthorized access and theft.</a:t>
            </a:r>
            <a:endParaRPr/>
          </a:p>
          <a:p>
            <a:pPr indent="-342900" lvl="0" marL="457200" rtl="0" algn="l">
              <a:lnSpc>
                <a:spcPct val="90000"/>
              </a:lnSpc>
              <a:spcBef>
                <a:spcPts val="0"/>
              </a:spcBef>
              <a:spcAft>
                <a:spcPts val="0"/>
              </a:spcAft>
              <a:buSzPts val="1800"/>
              <a:buChar char="•"/>
            </a:pPr>
            <a:r>
              <a:rPr lang="en-US"/>
              <a:t>In Flight:</a:t>
            </a:r>
            <a:endParaRPr/>
          </a:p>
          <a:p>
            <a:pPr indent="-342900" lvl="1" marL="914400" rtl="0" algn="l">
              <a:lnSpc>
                <a:spcPct val="90000"/>
              </a:lnSpc>
              <a:spcBef>
                <a:spcPts val="0"/>
              </a:spcBef>
              <a:spcAft>
                <a:spcPts val="0"/>
              </a:spcAft>
              <a:buSzPts val="1800"/>
              <a:buChar char="•"/>
            </a:pPr>
            <a:r>
              <a:rPr lang="en-US"/>
              <a:t>Applies to data moving across networks or through internal IPC. </a:t>
            </a:r>
            <a:endParaRPr/>
          </a:p>
          <a:p>
            <a:pPr indent="-342900" lvl="1" marL="914400" rtl="0" algn="l">
              <a:lnSpc>
                <a:spcPct val="90000"/>
              </a:lnSpc>
              <a:spcBef>
                <a:spcPts val="0"/>
              </a:spcBef>
              <a:spcAft>
                <a:spcPts val="0"/>
              </a:spcAft>
              <a:buSzPts val="1800"/>
              <a:buChar char="•"/>
            </a:pPr>
            <a:r>
              <a:rPr lang="en-US"/>
              <a:t>Use TLS 1.3 for REST/gRPC interfaces and internal services.</a:t>
            </a:r>
            <a:endParaRPr/>
          </a:p>
          <a:p>
            <a:pPr indent="-342900" lvl="1" marL="914400" rtl="0" algn="l">
              <a:lnSpc>
                <a:spcPct val="90000"/>
              </a:lnSpc>
              <a:spcBef>
                <a:spcPts val="0"/>
              </a:spcBef>
              <a:spcAft>
                <a:spcPts val="0"/>
              </a:spcAft>
              <a:buSzPts val="1800"/>
              <a:buChar char="•"/>
            </a:pPr>
            <a:r>
              <a:rPr lang="en-US"/>
              <a:t>Prevents packet sniffing and man-in-the-middle attacks.</a:t>
            </a:r>
            <a:endParaRPr/>
          </a:p>
          <a:p>
            <a:pPr indent="-342900" lvl="0" marL="457200" rtl="0" algn="l">
              <a:lnSpc>
                <a:spcPct val="90000"/>
              </a:lnSpc>
              <a:spcBef>
                <a:spcPts val="0"/>
              </a:spcBef>
              <a:spcAft>
                <a:spcPts val="0"/>
              </a:spcAft>
              <a:buSzPts val="1800"/>
              <a:buChar char="•"/>
            </a:pPr>
            <a:r>
              <a:rPr lang="en-US"/>
              <a:t>In Use:</a:t>
            </a:r>
            <a:endParaRPr/>
          </a:p>
          <a:p>
            <a:pPr indent="-342900" lvl="1" marL="914400" rtl="0" algn="l">
              <a:lnSpc>
                <a:spcPct val="90000"/>
              </a:lnSpc>
              <a:spcBef>
                <a:spcPts val="0"/>
              </a:spcBef>
              <a:spcAft>
                <a:spcPts val="0"/>
              </a:spcAft>
              <a:buSzPts val="1800"/>
              <a:buChar char="•"/>
            </a:pPr>
            <a:r>
              <a:rPr lang="en-US"/>
              <a:t>Applies to data in volatile memory.</a:t>
            </a:r>
            <a:endParaRPr/>
          </a:p>
          <a:p>
            <a:pPr indent="-342900" lvl="1" marL="914400" rtl="0" algn="l">
              <a:lnSpc>
                <a:spcPct val="90000"/>
              </a:lnSpc>
              <a:spcBef>
                <a:spcPts val="0"/>
              </a:spcBef>
              <a:spcAft>
                <a:spcPts val="0"/>
              </a:spcAft>
              <a:buSzPts val="1800"/>
              <a:buChar char="•"/>
            </a:pPr>
            <a:r>
              <a:rPr lang="en-US"/>
              <a:t>Secure memory enclaves (Intel SGX/AMD SEV), dynamic memory scrubbing (memset_s), and zeroing sensitive buffers directly after execution.</a:t>
            </a:r>
            <a:endParaRPr/>
          </a:p>
          <a:p>
            <a:pPr indent="-342900" lvl="1" marL="914400" rtl="0" algn="l">
              <a:lnSpc>
                <a:spcPct val="90000"/>
              </a:lnSpc>
              <a:spcBef>
                <a:spcPts val="0"/>
              </a:spcBef>
              <a:spcAft>
                <a:spcPts val="0"/>
              </a:spcAft>
              <a:buSzPts val="1800"/>
              <a:buChar char="•"/>
            </a:pPr>
            <a:r>
              <a:rPr lang="en-US"/>
              <a:t>Protects against memory dump misuse and snooping. </a:t>
            </a:r>
            <a:endParaRPr/>
          </a:p>
        </p:txBody>
      </p:sp>
      <p:pic>
        <p:nvPicPr>
          <p:cNvPr descr="Green Pace logo" id="191" name="Google Shape;191;p7"/>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8"/>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TRIPLE-A POLICIES</a:t>
            </a:r>
            <a:endParaRPr/>
          </a:p>
        </p:txBody>
      </p:sp>
      <p:sp>
        <p:nvSpPr>
          <p:cNvPr id="197" name="Google Shape;197;p8"/>
          <p:cNvSpPr txBox="1"/>
          <p:nvPr>
            <p:ph idx="1" type="body"/>
          </p:nvPr>
        </p:nvSpPr>
        <p:spPr>
          <a:xfrm>
            <a:off x="685800" y="1932749"/>
            <a:ext cx="10820400" cy="4285800"/>
          </a:xfrm>
          <a:prstGeom prst="rect">
            <a:avLst/>
          </a:prstGeom>
          <a:noFill/>
          <a:ln>
            <a:noFill/>
          </a:ln>
        </p:spPr>
        <p:txBody>
          <a:bodyPr anchorCtr="0" anchor="t" bIns="45700" lIns="91425" spcFirstLastPara="1" rIns="91425" wrap="square" tIns="45700">
            <a:normAutofit lnSpcReduction="10000"/>
          </a:bodyPr>
          <a:lstStyle/>
          <a:p>
            <a:pPr indent="-215900" lvl="0" marL="228600" rtl="0" algn="l">
              <a:lnSpc>
                <a:spcPct val="90000"/>
              </a:lnSpc>
              <a:spcBef>
                <a:spcPts val="0"/>
              </a:spcBef>
              <a:spcAft>
                <a:spcPts val="0"/>
              </a:spcAft>
              <a:buClr>
                <a:schemeClr val="lt1"/>
              </a:buClr>
              <a:buSzPts val="2200"/>
              <a:buChar char="•"/>
            </a:pPr>
            <a:r>
              <a:rPr lang="en-US"/>
              <a:t>Authentication:</a:t>
            </a:r>
            <a:endParaRPr/>
          </a:p>
          <a:p>
            <a:pPr indent="-368300" lvl="1" marL="914400" rtl="0" algn="l">
              <a:lnSpc>
                <a:spcPct val="90000"/>
              </a:lnSpc>
              <a:spcBef>
                <a:spcPts val="0"/>
              </a:spcBef>
              <a:spcAft>
                <a:spcPts val="0"/>
              </a:spcAft>
              <a:buSzPts val="2200"/>
              <a:buChar char="•"/>
            </a:pPr>
            <a:r>
              <a:rPr lang="en-US" sz="2200"/>
              <a:t>Verify user and caller identity.</a:t>
            </a:r>
            <a:endParaRPr sz="2200"/>
          </a:p>
          <a:p>
            <a:pPr indent="-368300" lvl="1" marL="914400" rtl="0" algn="l">
              <a:lnSpc>
                <a:spcPct val="90000"/>
              </a:lnSpc>
              <a:spcBef>
                <a:spcPts val="0"/>
              </a:spcBef>
              <a:spcAft>
                <a:spcPts val="0"/>
              </a:spcAft>
              <a:buSzPts val="2200"/>
              <a:buChar char="•"/>
            </a:pPr>
            <a:r>
              <a:rPr lang="en-US" sz="2200"/>
              <a:t>Enforce MFA for users and JWT for services.</a:t>
            </a:r>
            <a:endParaRPr sz="2200"/>
          </a:p>
          <a:p>
            <a:pPr indent="-368300" lvl="1" marL="914400" rtl="0" algn="l">
              <a:lnSpc>
                <a:spcPct val="90000"/>
              </a:lnSpc>
              <a:spcBef>
                <a:spcPts val="0"/>
              </a:spcBef>
              <a:spcAft>
                <a:spcPts val="0"/>
              </a:spcAft>
              <a:buSzPts val="2200"/>
              <a:buChar char="•"/>
            </a:pPr>
            <a:r>
              <a:rPr lang="en-US" sz="2200"/>
              <a:t>Ensures only valid entities access resources.</a:t>
            </a:r>
            <a:endParaRPr sz="2200"/>
          </a:p>
          <a:p>
            <a:pPr indent="-215900" lvl="0" marL="228600" rtl="0" algn="l">
              <a:lnSpc>
                <a:spcPct val="90000"/>
              </a:lnSpc>
              <a:spcBef>
                <a:spcPts val="0"/>
              </a:spcBef>
              <a:spcAft>
                <a:spcPts val="0"/>
              </a:spcAft>
              <a:buSzPts val="2200"/>
              <a:buChar char="•"/>
            </a:pPr>
            <a:r>
              <a:rPr lang="en-US"/>
              <a:t>Authorization:</a:t>
            </a:r>
            <a:endParaRPr/>
          </a:p>
          <a:p>
            <a:pPr indent="-368300" lvl="1" marL="914400" rtl="0" algn="l">
              <a:lnSpc>
                <a:spcPct val="90000"/>
              </a:lnSpc>
              <a:spcBef>
                <a:spcPts val="0"/>
              </a:spcBef>
              <a:spcAft>
                <a:spcPts val="0"/>
              </a:spcAft>
              <a:buSzPts val="2200"/>
              <a:buChar char="•"/>
            </a:pPr>
            <a:r>
              <a:rPr lang="en-US" sz="2200"/>
              <a:t>Permission enforcement for resource access.</a:t>
            </a:r>
            <a:endParaRPr sz="2200"/>
          </a:p>
          <a:p>
            <a:pPr indent="-368300" lvl="1" marL="914400" rtl="0" algn="l">
              <a:lnSpc>
                <a:spcPct val="90000"/>
              </a:lnSpc>
              <a:spcBef>
                <a:spcPts val="0"/>
              </a:spcBef>
              <a:spcAft>
                <a:spcPts val="0"/>
              </a:spcAft>
              <a:buSzPts val="2200"/>
              <a:buChar char="•"/>
            </a:pPr>
            <a:r>
              <a:rPr lang="en-US" sz="2200"/>
              <a:t>Implement Role-Based Access Control (RBAC) and Attribute-Based Access Control (ABAC) adhering to SDT-006</a:t>
            </a:r>
            <a:r>
              <a:rPr lang="en-US" sz="2200"/>
              <a:t>.</a:t>
            </a:r>
            <a:endParaRPr sz="2200"/>
          </a:p>
          <a:p>
            <a:pPr indent="-368300" lvl="1" marL="914400" rtl="0" algn="l">
              <a:lnSpc>
                <a:spcPct val="90000"/>
              </a:lnSpc>
              <a:spcBef>
                <a:spcPts val="0"/>
              </a:spcBef>
              <a:spcAft>
                <a:spcPts val="0"/>
              </a:spcAft>
              <a:buSzPts val="2200"/>
              <a:buChar char="•"/>
            </a:pPr>
            <a:r>
              <a:rPr lang="en-US" sz="2200"/>
              <a:t>Control access level based on necessary user privileges. </a:t>
            </a:r>
            <a:endParaRPr sz="2200"/>
          </a:p>
          <a:p>
            <a:pPr indent="-215900" lvl="0" marL="228600" rtl="0" algn="l">
              <a:lnSpc>
                <a:spcPct val="90000"/>
              </a:lnSpc>
              <a:spcBef>
                <a:spcPts val="0"/>
              </a:spcBef>
              <a:spcAft>
                <a:spcPts val="0"/>
              </a:spcAft>
              <a:buSzPts val="2200"/>
              <a:buChar char="•"/>
            </a:pPr>
            <a:r>
              <a:rPr lang="en-US"/>
              <a:t>Accounting:</a:t>
            </a:r>
            <a:endParaRPr/>
          </a:p>
          <a:p>
            <a:pPr indent="-368300" lvl="1" marL="914400" rtl="0" algn="l">
              <a:lnSpc>
                <a:spcPct val="90000"/>
              </a:lnSpc>
              <a:spcBef>
                <a:spcPts val="0"/>
              </a:spcBef>
              <a:spcAft>
                <a:spcPts val="0"/>
              </a:spcAft>
              <a:buSzPts val="2200"/>
              <a:buChar char="•"/>
            </a:pPr>
            <a:r>
              <a:rPr lang="en-US" sz="2200"/>
              <a:t>Tracking and verifying system activities.</a:t>
            </a:r>
            <a:endParaRPr sz="2200"/>
          </a:p>
          <a:p>
            <a:pPr indent="-368300" lvl="1" marL="914400" rtl="0" algn="l">
              <a:lnSpc>
                <a:spcPct val="90000"/>
              </a:lnSpc>
              <a:spcBef>
                <a:spcPts val="0"/>
              </a:spcBef>
              <a:spcAft>
                <a:spcPts val="0"/>
              </a:spcAft>
              <a:buSzPts val="2200"/>
              <a:buChar char="•"/>
            </a:pPr>
            <a:r>
              <a:rPr lang="en-US" sz="2200"/>
              <a:t>Apply append-only logging exported directly to SIEM automated alerting</a:t>
            </a:r>
            <a:endParaRPr sz="2200"/>
          </a:p>
          <a:p>
            <a:pPr indent="-368300" lvl="1" marL="914400" rtl="0" algn="l">
              <a:lnSpc>
                <a:spcPct val="90000"/>
              </a:lnSpc>
              <a:spcBef>
                <a:spcPts val="0"/>
              </a:spcBef>
              <a:spcAft>
                <a:spcPts val="0"/>
              </a:spcAft>
              <a:buSzPts val="2200"/>
              <a:buChar char="•"/>
            </a:pPr>
            <a:r>
              <a:rPr lang="en-US" sz="2200"/>
              <a:t>Ensures non-repudiation and policy compliance.</a:t>
            </a:r>
            <a:endParaRPr sz="2200"/>
          </a:p>
        </p:txBody>
      </p:sp>
      <p:pic>
        <p:nvPicPr>
          <p:cNvPr descr="Green Pace logo" id="198" name="Google Shape;198;p8"/>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9504e29505_0_0"/>
          <p:cNvSpPr txBox="1"/>
          <p:nvPr>
            <p:ph type="title"/>
          </p:nvPr>
        </p:nvSpPr>
        <p:spPr>
          <a:xfrm>
            <a:off x="2895600" y="764373"/>
            <a:ext cx="8610600" cy="12930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Security Testing: STD-004-CPP</a:t>
            </a:r>
            <a:endParaRPr/>
          </a:p>
        </p:txBody>
      </p:sp>
      <p:sp>
        <p:nvSpPr>
          <p:cNvPr id="204" name="Google Shape;204;g9504e29505_0_0"/>
          <p:cNvSpPr txBox="1"/>
          <p:nvPr>
            <p:ph idx="1" type="body"/>
          </p:nvPr>
        </p:nvSpPr>
        <p:spPr>
          <a:xfrm>
            <a:off x="685800" y="2194560"/>
            <a:ext cx="10820400" cy="4024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a:t>Vulnerability Tested:</a:t>
            </a:r>
            <a:endParaRPr/>
          </a:p>
          <a:p>
            <a:pPr indent="0" lvl="0" marL="457200" rtl="0" algn="l">
              <a:lnSpc>
                <a:spcPct val="90000"/>
              </a:lnSpc>
              <a:spcBef>
                <a:spcPts val="1000"/>
              </a:spcBef>
              <a:spcAft>
                <a:spcPts val="0"/>
              </a:spcAft>
              <a:buNone/>
            </a:pPr>
            <a:r>
              <a:rPr lang="en-US"/>
              <a:t>STD-004-CPP - SQL Injection</a:t>
            </a:r>
            <a:endParaRPr/>
          </a:p>
          <a:p>
            <a:pPr indent="-342900" lvl="0" marL="457200" rtl="0" algn="l">
              <a:lnSpc>
                <a:spcPct val="90000"/>
              </a:lnSpc>
              <a:spcBef>
                <a:spcPts val="1000"/>
              </a:spcBef>
              <a:spcAft>
                <a:spcPts val="0"/>
              </a:spcAft>
              <a:buSzPts val="1800"/>
              <a:buChar char="•"/>
            </a:pPr>
            <a:r>
              <a:rPr lang="en-US"/>
              <a:t>SQL queries must use parameterized queries.</a:t>
            </a:r>
            <a:endParaRPr/>
          </a:p>
          <a:p>
            <a:pPr indent="-342900" lvl="0" marL="457200" rtl="0" algn="l">
              <a:lnSpc>
                <a:spcPct val="90000"/>
              </a:lnSpc>
              <a:spcBef>
                <a:spcPts val="0"/>
              </a:spcBef>
              <a:spcAft>
                <a:spcPts val="0"/>
              </a:spcAft>
              <a:buSzPts val="1800"/>
              <a:buChar char="•"/>
            </a:pPr>
            <a:r>
              <a:rPr lang="en-US"/>
              <a:t>Directly inserting user-controlled data into SQL creates an injection vulnerability.</a:t>
            </a:r>
            <a:endParaRPr/>
          </a:p>
          <a:p>
            <a:pPr indent="0" lvl="0" marL="0" rtl="0" algn="l">
              <a:lnSpc>
                <a:spcPct val="90000"/>
              </a:lnSpc>
              <a:spcBef>
                <a:spcPts val="1000"/>
              </a:spcBef>
              <a:spcAft>
                <a:spcPts val="0"/>
              </a:spcAft>
              <a:buSzPts val="1800"/>
              <a:buNone/>
            </a:pPr>
            <a:r>
              <a:rPr lang="en-US"/>
              <a:t>Testing Method:</a:t>
            </a:r>
            <a:endParaRPr/>
          </a:p>
          <a:p>
            <a:pPr indent="-342900" lvl="0" marL="457200" rtl="0" algn="l">
              <a:lnSpc>
                <a:spcPct val="90000"/>
              </a:lnSpc>
              <a:spcBef>
                <a:spcPts val="1000"/>
              </a:spcBef>
              <a:spcAft>
                <a:spcPts val="0"/>
              </a:spcAft>
              <a:buSzPts val="1800"/>
              <a:buChar char="•"/>
            </a:pPr>
            <a:r>
              <a:rPr lang="en-US"/>
              <a:t>SonarQube static analysis</a:t>
            </a:r>
            <a:endParaRPr/>
          </a:p>
          <a:p>
            <a:pPr indent="-342900" lvl="0" marL="457200" rtl="0" algn="l">
              <a:lnSpc>
                <a:spcPct val="90000"/>
              </a:lnSpc>
              <a:spcBef>
                <a:spcPts val="0"/>
              </a:spcBef>
              <a:spcAft>
                <a:spcPts val="0"/>
              </a:spcAft>
              <a:buSzPts val="1800"/>
              <a:buChar char="•"/>
            </a:pPr>
            <a:r>
              <a:rPr lang="en-US"/>
              <a:t>Compare vulnerable and compliant implementations</a:t>
            </a:r>
            <a:endParaRPr/>
          </a:p>
          <a:p>
            <a:pPr indent="-342900" lvl="0" marL="457200" rtl="0" algn="l">
              <a:lnSpc>
                <a:spcPct val="90000"/>
              </a:lnSpc>
              <a:spcBef>
                <a:spcPts val="0"/>
              </a:spcBef>
              <a:spcAft>
                <a:spcPts val="0"/>
              </a:spcAft>
              <a:buSzPts val="1800"/>
              <a:buChar char="•"/>
            </a:pPr>
            <a:r>
              <a:rPr lang="en-US"/>
              <a:t>4 mixed positive/negative test cases</a:t>
            </a:r>
            <a:endParaRPr/>
          </a:p>
          <a:p>
            <a:pPr indent="0" lvl="0" marL="0" rtl="0" algn="l">
              <a:lnSpc>
                <a:spcPct val="90000"/>
              </a:lnSpc>
              <a:spcBef>
                <a:spcPts val="1000"/>
              </a:spcBef>
              <a:spcAft>
                <a:spcPts val="0"/>
              </a:spcAft>
              <a:buSzPts val="1800"/>
              <a:buNone/>
            </a:pPr>
            <a:r>
              <a:rPr lang="en-US"/>
              <a:t>Expected result: vulnerable code is identified; compliant code passes</a:t>
            </a:r>
            <a:endParaRPr/>
          </a:p>
        </p:txBody>
      </p:sp>
      <p:pic>
        <p:nvPicPr>
          <p:cNvPr descr="Green Pace logo" id="205" name="Google Shape;205;g9504e29505_0_0"/>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facd84025d_0_5"/>
          <p:cNvSpPr txBox="1"/>
          <p:nvPr>
            <p:ph type="title"/>
          </p:nvPr>
        </p:nvSpPr>
        <p:spPr>
          <a:xfrm>
            <a:off x="2895600" y="764373"/>
            <a:ext cx="8610600" cy="1293000"/>
          </a:xfrm>
          <a:prstGeom prst="rect">
            <a:avLst/>
          </a:prstGeom>
        </p:spPr>
        <p:txBody>
          <a:bodyPr anchorCtr="0" anchor="ctr" bIns="45700" lIns="91425" spcFirstLastPara="1" rIns="91425" wrap="square" tIns="45700">
            <a:normAutofit fontScale="90000"/>
          </a:bodyPr>
          <a:lstStyle/>
          <a:p>
            <a:pPr indent="0" lvl="0" marL="0" rtl="0" algn="r">
              <a:spcBef>
                <a:spcPts val="0"/>
              </a:spcBef>
              <a:spcAft>
                <a:spcPts val="0"/>
              </a:spcAft>
              <a:buNone/>
            </a:pPr>
            <a:r>
              <a:rPr lang="en-US"/>
              <a:t>“Does direct string concatenation create a SQL injection vulnerability?”</a:t>
            </a:r>
            <a:endParaRPr/>
          </a:p>
        </p:txBody>
      </p:sp>
      <p:sp>
        <p:nvSpPr>
          <p:cNvPr id="211" name="Google Shape;211;g3facd84025d_0_5"/>
          <p:cNvSpPr txBox="1"/>
          <p:nvPr>
            <p:ph idx="1" type="body"/>
          </p:nvPr>
        </p:nvSpPr>
        <p:spPr>
          <a:xfrm>
            <a:off x="685800" y="2194560"/>
            <a:ext cx="10820400" cy="4024200"/>
          </a:xfrm>
          <a:prstGeom prst="rect">
            <a:avLst/>
          </a:prstGeom>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lang="en-US"/>
              <a:t>Negative test:</a:t>
            </a:r>
            <a:endParaRPr/>
          </a:p>
          <a:p>
            <a:pPr indent="0" lvl="0" marL="457200" rtl="0" algn="l">
              <a:lnSpc>
                <a:spcPct val="115000"/>
              </a:lnSpc>
              <a:spcBef>
                <a:spcPts val="0"/>
              </a:spcBef>
              <a:spcAft>
                <a:spcPts val="0"/>
              </a:spcAft>
              <a:buNone/>
            </a:pPr>
            <a:r>
              <a:rPr lang="en-US">
                <a:latin typeface="Courier New"/>
                <a:ea typeface="Courier New"/>
                <a:cs typeface="Courier New"/>
                <a:sym typeface="Courier New"/>
              </a:rPr>
              <a:t>std::string query =</a:t>
            </a:r>
            <a:endParaRPr>
              <a:latin typeface="Courier New"/>
              <a:ea typeface="Courier New"/>
              <a:cs typeface="Courier New"/>
              <a:sym typeface="Courier New"/>
            </a:endParaRPr>
          </a:p>
          <a:p>
            <a:pPr indent="0" lvl="0" marL="457200" rtl="0" algn="l">
              <a:lnSpc>
                <a:spcPct val="115000"/>
              </a:lnSpc>
              <a:spcBef>
                <a:spcPts val="0"/>
              </a:spcBef>
              <a:spcAft>
                <a:spcPts val="0"/>
              </a:spcAft>
              <a:buNone/>
            </a:pPr>
            <a:r>
              <a:rPr lang="en-US">
                <a:latin typeface="Courier New"/>
                <a:ea typeface="Courier New"/>
                <a:cs typeface="Courier New"/>
                <a:sym typeface="Courier New"/>
              </a:rPr>
              <a:t>    "SELECT * FROM users WHERE username = '" + username + "'";</a:t>
            </a:r>
            <a:endParaRPr>
              <a:latin typeface="Courier New"/>
              <a:ea typeface="Courier New"/>
              <a:cs typeface="Courier New"/>
              <a:sym typeface="Courier New"/>
            </a:endParaRPr>
          </a:p>
          <a:p>
            <a:pPr indent="0" lvl="0" marL="0" rtl="0" algn="l">
              <a:lnSpc>
                <a:spcPct val="115000"/>
              </a:lnSpc>
              <a:spcBef>
                <a:spcPts val="0"/>
              </a:spcBef>
              <a:spcAft>
                <a:spcPts val="0"/>
              </a:spcAft>
              <a:buNone/>
            </a:pPr>
            <a:r>
              <a:t/>
            </a:r>
            <a:endParaRPr>
              <a:latin typeface="Courier New"/>
              <a:ea typeface="Courier New"/>
              <a:cs typeface="Courier New"/>
              <a:sym typeface="Courier New"/>
            </a:endParaRPr>
          </a:p>
          <a:p>
            <a:pPr indent="0" lvl="0" marL="0" rtl="0" algn="l">
              <a:lnSpc>
                <a:spcPct val="115000"/>
              </a:lnSpc>
              <a:spcBef>
                <a:spcPts val="0"/>
              </a:spcBef>
              <a:spcAft>
                <a:spcPts val="0"/>
              </a:spcAft>
              <a:buNone/>
            </a:pPr>
            <a:r>
              <a:rPr lang="en-US"/>
              <a:t>Expected: </a:t>
            </a:r>
            <a:r>
              <a:rPr b="1" lang="en-US">
                <a:solidFill>
                  <a:schemeClr val="accent1"/>
                </a:solidFill>
              </a:rPr>
              <a:t>FAIL</a:t>
            </a:r>
            <a:endParaRPr b="1">
              <a:solidFill>
                <a:schemeClr val="accent1"/>
              </a:solidFill>
            </a:endParaRPr>
          </a:p>
          <a:p>
            <a:pPr indent="0" lvl="0" marL="0" rtl="0" algn="l">
              <a:lnSpc>
                <a:spcPct val="115000"/>
              </a:lnSpc>
              <a:spcBef>
                <a:spcPts val="0"/>
              </a:spcBef>
              <a:spcAft>
                <a:spcPts val="0"/>
              </a:spcAft>
              <a:buNone/>
            </a:pPr>
            <a:r>
              <a:rPr lang="en-US"/>
              <a:t>SonarQube: Vulnerability detected</a:t>
            </a:r>
            <a:endParaRPr/>
          </a:p>
          <a:p>
            <a:pPr indent="0" lvl="0" marL="0" rtl="0" algn="l">
              <a:lnSpc>
                <a:spcPct val="115000"/>
              </a:lnSpc>
              <a:spcBef>
                <a:spcPts val="0"/>
              </a:spcBef>
              <a:spcAft>
                <a:spcPts val="0"/>
              </a:spcAft>
              <a:buNone/>
            </a:pPr>
            <a:r>
              <a:rPr lang="en-US"/>
              <a:t>Why: User-controlled input is concatenated directly into the SQL statement.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facd84025d_0_11"/>
          <p:cNvSpPr txBox="1"/>
          <p:nvPr>
            <p:ph type="title"/>
          </p:nvPr>
        </p:nvSpPr>
        <p:spPr>
          <a:xfrm>
            <a:off x="2895600" y="764373"/>
            <a:ext cx="8610600" cy="12930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r>
              <a:rPr lang="en-US"/>
              <a:t>“Does using a parameterized query prevent SQL injection?”</a:t>
            </a:r>
            <a:endParaRPr/>
          </a:p>
        </p:txBody>
      </p:sp>
      <p:sp>
        <p:nvSpPr>
          <p:cNvPr id="217" name="Google Shape;217;g3facd84025d_0_11"/>
          <p:cNvSpPr txBox="1"/>
          <p:nvPr>
            <p:ph idx="1" type="body"/>
          </p:nvPr>
        </p:nvSpPr>
        <p:spPr>
          <a:xfrm>
            <a:off x="685800" y="2194560"/>
            <a:ext cx="10820400" cy="4024200"/>
          </a:xfrm>
          <a:prstGeom prst="rect">
            <a:avLst/>
          </a:prstGeom>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lang="en-US"/>
              <a:t>Positive test</a:t>
            </a:r>
            <a:endParaRPr/>
          </a:p>
          <a:p>
            <a:pPr indent="0" lvl="0" marL="457200" rtl="0" algn="l">
              <a:lnSpc>
                <a:spcPct val="115000"/>
              </a:lnSpc>
              <a:spcBef>
                <a:spcPts val="0"/>
              </a:spcBef>
              <a:spcAft>
                <a:spcPts val="0"/>
              </a:spcAft>
              <a:buNone/>
            </a:pPr>
            <a:r>
              <a:rPr lang="en-US">
                <a:latin typeface="Courier New"/>
                <a:ea typeface="Courier New"/>
                <a:cs typeface="Courier New"/>
                <a:sym typeface="Courier New"/>
              </a:rPr>
              <a:t>std::string query =</a:t>
            </a:r>
            <a:endParaRPr>
              <a:latin typeface="Courier New"/>
              <a:ea typeface="Courier New"/>
              <a:cs typeface="Courier New"/>
              <a:sym typeface="Courier New"/>
            </a:endParaRPr>
          </a:p>
          <a:p>
            <a:pPr indent="0" lvl="0" marL="457200" rtl="0" algn="l">
              <a:lnSpc>
                <a:spcPct val="115000"/>
              </a:lnSpc>
              <a:spcBef>
                <a:spcPts val="0"/>
              </a:spcBef>
              <a:spcAft>
                <a:spcPts val="0"/>
              </a:spcAft>
              <a:buNone/>
            </a:pPr>
            <a:r>
              <a:rPr lang="en-US">
                <a:latin typeface="Courier New"/>
                <a:ea typeface="Courier New"/>
                <a:cs typeface="Courier New"/>
                <a:sym typeface="Courier New"/>
              </a:rPr>
              <a:t>    "SELECT * FROM users WHERE username = ?";</a:t>
            </a:r>
            <a:endParaRPr>
              <a:latin typeface="Courier New"/>
              <a:ea typeface="Courier New"/>
              <a:cs typeface="Courier New"/>
              <a:sym typeface="Courier New"/>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US"/>
              <a:t>Then bind </a:t>
            </a:r>
            <a:r>
              <a:rPr lang="en-US">
                <a:latin typeface="Courier New"/>
                <a:ea typeface="Courier New"/>
                <a:cs typeface="Courier New"/>
                <a:sym typeface="Courier New"/>
              </a:rPr>
              <a:t>username</a:t>
            </a:r>
            <a:r>
              <a:rPr lang="en-US"/>
              <a:t> as a parameter.</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US"/>
              <a:t>Expected: </a:t>
            </a:r>
            <a:r>
              <a:rPr b="1" lang="en-US">
                <a:solidFill>
                  <a:srgbClr val="34BE34"/>
                </a:solidFill>
              </a:rPr>
              <a:t>PASS</a:t>
            </a:r>
            <a:endParaRPr b="1">
              <a:solidFill>
                <a:srgbClr val="34BE34"/>
              </a:solidFill>
            </a:endParaRPr>
          </a:p>
          <a:p>
            <a:pPr indent="0" lvl="0" marL="0" rtl="0" algn="l">
              <a:lnSpc>
                <a:spcPct val="115000"/>
              </a:lnSpc>
              <a:spcBef>
                <a:spcPts val="0"/>
              </a:spcBef>
              <a:spcAft>
                <a:spcPts val="0"/>
              </a:spcAft>
              <a:buNone/>
            </a:pPr>
            <a:r>
              <a:rPr lang="en-US"/>
              <a:t>SonarQube: No SQL-injection vulnerability detected</a:t>
            </a:r>
            <a:endParaRPr/>
          </a:p>
          <a:p>
            <a:pPr indent="0" lvl="0" marL="0" rtl="0" algn="l">
              <a:lnSpc>
                <a:spcPct val="115000"/>
              </a:lnSpc>
              <a:spcBef>
                <a:spcPts val="0"/>
              </a:spcBef>
              <a:spcAft>
                <a:spcPts val="0"/>
              </a:spcAft>
              <a:buNone/>
            </a:pPr>
            <a:r>
              <a:rPr lang="en-US"/>
              <a:t>Why: User input is treated as data rather than executable SQL.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facd84025d_0_16"/>
          <p:cNvSpPr txBox="1"/>
          <p:nvPr>
            <p:ph type="title"/>
          </p:nvPr>
        </p:nvSpPr>
        <p:spPr>
          <a:xfrm>
            <a:off x="2895600" y="764373"/>
            <a:ext cx="8610600" cy="1293000"/>
          </a:xfrm>
          <a:prstGeom prst="rect">
            <a:avLst/>
          </a:prstGeom>
        </p:spPr>
        <p:txBody>
          <a:bodyPr anchorCtr="0" anchor="ctr" bIns="45700" lIns="91425" spcFirstLastPara="1" rIns="91425" wrap="square" tIns="45700">
            <a:normAutofit fontScale="90000"/>
          </a:bodyPr>
          <a:lstStyle/>
          <a:p>
            <a:pPr indent="0" lvl="0" marL="0" rtl="0" algn="r">
              <a:spcBef>
                <a:spcPts val="0"/>
              </a:spcBef>
              <a:spcAft>
                <a:spcPts val="0"/>
              </a:spcAft>
              <a:buNone/>
            </a:pPr>
            <a:r>
              <a:rPr lang="en-US"/>
              <a:t>“Does escaping input alone provide sufficient SQL injection protection?”</a:t>
            </a:r>
            <a:endParaRPr/>
          </a:p>
        </p:txBody>
      </p:sp>
      <p:sp>
        <p:nvSpPr>
          <p:cNvPr id="223" name="Google Shape;223;g3facd84025d_0_16"/>
          <p:cNvSpPr txBox="1"/>
          <p:nvPr>
            <p:ph idx="1" type="body"/>
          </p:nvPr>
        </p:nvSpPr>
        <p:spPr>
          <a:xfrm>
            <a:off x="685800" y="2194560"/>
            <a:ext cx="10820400" cy="4024200"/>
          </a:xfrm>
          <a:prstGeom prst="rect">
            <a:avLst/>
          </a:prstGeom>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lang="en-US"/>
              <a:t>Negative test</a:t>
            </a:r>
            <a:endParaRPr/>
          </a:p>
          <a:p>
            <a:pPr indent="0" lvl="0" marL="457200" rtl="0" algn="l">
              <a:lnSpc>
                <a:spcPct val="115000"/>
              </a:lnSpc>
              <a:spcBef>
                <a:spcPts val="0"/>
              </a:spcBef>
              <a:spcAft>
                <a:spcPts val="0"/>
              </a:spcAft>
              <a:buNone/>
            </a:pPr>
            <a:r>
              <a:rPr lang="en-US">
                <a:latin typeface="Courier New"/>
                <a:ea typeface="Courier New"/>
                <a:cs typeface="Courier New"/>
                <a:sym typeface="Courier New"/>
              </a:rPr>
              <a:t>username = escapeSQL(username);</a:t>
            </a:r>
            <a:endParaRPr>
              <a:latin typeface="Courier New"/>
              <a:ea typeface="Courier New"/>
              <a:cs typeface="Courier New"/>
              <a:sym typeface="Courier New"/>
            </a:endParaRPr>
          </a:p>
          <a:p>
            <a:pPr indent="0" lvl="0" marL="457200" rtl="0" algn="l">
              <a:lnSpc>
                <a:spcPct val="115000"/>
              </a:lnSpc>
              <a:spcBef>
                <a:spcPts val="0"/>
              </a:spcBef>
              <a:spcAft>
                <a:spcPts val="0"/>
              </a:spcAft>
              <a:buNone/>
            </a:pPr>
            <a:r>
              <a:rPr lang="en-US">
                <a:latin typeface="Courier New"/>
                <a:ea typeface="Courier New"/>
                <a:cs typeface="Courier New"/>
                <a:sym typeface="Courier New"/>
              </a:rPr>
              <a:t>query = "SELECT * FROM users WHERE username = '" + username + "'";</a:t>
            </a:r>
            <a:endParaRPr>
              <a:latin typeface="Courier New"/>
              <a:ea typeface="Courier New"/>
              <a:cs typeface="Courier New"/>
              <a:sym typeface="Courier New"/>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US"/>
              <a:t>Expected: </a:t>
            </a:r>
            <a:r>
              <a:rPr b="1" lang="en-US">
                <a:solidFill>
                  <a:schemeClr val="accent1"/>
                </a:solidFill>
              </a:rPr>
              <a:t>FAIL</a:t>
            </a:r>
            <a:r>
              <a:rPr lang="en-US"/>
              <a:t> / security concern remains</a:t>
            </a:r>
            <a:endParaRPr/>
          </a:p>
          <a:p>
            <a:pPr indent="0" lvl="0" marL="0" rtl="0" algn="l">
              <a:lnSpc>
                <a:spcPct val="115000"/>
              </a:lnSpc>
              <a:spcBef>
                <a:spcPts val="0"/>
              </a:spcBef>
              <a:spcAft>
                <a:spcPts val="0"/>
              </a:spcAft>
              <a:buNone/>
            </a:pPr>
            <a:r>
              <a:rPr lang="en-US"/>
              <a:t>Why: Escaping is not equivalent to parameterization and can be incomplete or incorrectly implemented.</a:t>
            </a:r>
            <a:endParaRPr/>
          </a:p>
          <a:p>
            <a:pPr indent="0" lvl="0" marL="0" rtl="0" algn="l">
              <a:lnSpc>
                <a:spcPct val="115000"/>
              </a:lnSpc>
              <a:spcBef>
                <a:spcPts val="0"/>
              </a:spcBef>
              <a:spcAft>
                <a:spcPts val="0"/>
              </a:spcAft>
              <a:buNone/>
            </a:pPr>
            <a:r>
              <a:rPr lang="en-US"/>
              <a:t>Sanitized ≠ Secure.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facd84025d_0_21"/>
          <p:cNvSpPr txBox="1"/>
          <p:nvPr>
            <p:ph type="title"/>
          </p:nvPr>
        </p:nvSpPr>
        <p:spPr>
          <a:xfrm>
            <a:off x="2895600" y="764373"/>
            <a:ext cx="8610600" cy="12930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r>
              <a:rPr lang="en-US"/>
              <a:t>“Does parameterization protect dynamically supplied user input?”</a:t>
            </a:r>
            <a:endParaRPr/>
          </a:p>
        </p:txBody>
      </p:sp>
      <p:sp>
        <p:nvSpPr>
          <p:cNvPr id="229" name="Google Shape;229;g3facd84025d_0_21"/>
          <p:cNvSpPr txBox="1"/>
          <p:nvPr>
            <p:ph idx="1" type="body"/>
          </p:nvPr>
        </p:nvSpPr>
        <p:spPr>
          <a:xfrm>
            <a:off x="685800" y="2194560"/>
            <a:ext cx="10820400" cy="4024200"/>
          </a:xfrm>
          <a:prstGeom prst="rect">
            <a:avLst/>
          </a:prstGeom>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lang="en-US"/>
              <a:t>Positive test</a:t>
            </a:r>
            <a:endParaRPr/>
          </a:p>
          <a:p>
            <a:pPr indent="0" lvl="0" marL="457200" rtl="0" algn="l">
              <a:lnSpc>
                <a:spcPct val="115000"/>
              </a:lnSpc>
              <a:spcBef>
                <a:spcPts val="0"/>
              </a:spcBef>
              <a:spcAft>
                <a:spcPts val="0"/>
              </a:spcAft>
              <a:buNone/>
            </a:pPr>
            <a:r>
              <a:rPr lang="en-US">
                <a:latin typeface="Courier New"/>
                <a:ea typeface="Courier New"/>
                <a:cs typeface="Courier New"/>
                <a:sym typeface="Courier New"/>
              </a:rPr>
              <a:t>std::string query =</a:t>
            </a:r>
            <a:endParaRPr>
              <a:latin typeface="Courier New"/>
              <a:ea typeface="Courier New"/>
              <a:cs typeface="Courier New"/>
              <a:sym typeface="Courier New"/>
            </a:endParaRPr>
          </a:p>
          <a:p>
            <a:pPr indent="0" lvl="0" marL="457200" rtl="0" algn="l">
              <a:lnSpc>
                <a:spcPct val="115000"/>
              </a:lnSpc>
              <a:spcBef>
                <a:spcPts val="0"/>
              </a:spcBef>
              <a:spcAft>
                <a:spcPts val="0"/>
              </a:spcAft>
              <a:buNone/>
            </a:pPr>
            <a:r>
              <a:rPr lang="en-US">
                <a:latin typeface="Courier New"/>
                <a:ea typeface="Courier New"/>
                <a:cs typeface="Courier New"/>
                <a:sym typeface="Courier New"/>
              </a:rPr>
              <a:t>    "SELECT * FROM users WHERE username = ?";</a:t>
            </a:r>
            <a:endParaRPr>
              <a:latin typeface="Courier New"/>
              <a:ea typeface="Courier New"/>
              <a:cs typeface="Courier New"/>
              <a:sym typeface="Courier New"/>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US"/>
              <a:t>User input:</a:t>
            </a:r>
            <a:endParaRPr/>
          </a:p>
          <a:p>
            <a:pPr indent="0" lvl="0" marL="457200" rtl="0" algn="l">
              <a:lnSpc>
                <a:spcPct val="115000"/>
              </a:lnSpc>
              <a:spcBef>
                <a:spcPts val="0"/>
              </a:spcBef>
              <a:spcAft>
                <a:spcPts val="0"/>
              </a:spcAft>
              <a:buNone/>
            </a:pPr>
            <a:r>
              <a:rPr lang="en-US">
                <a:latin typeface="Courier New"/>
                <a:ea typeface="Courier New"/>
                <a:cs typeface="Courier New"/>
                <a:sym typeface="Courier New"/>
              </a:rPr>
              <a:t>admin' OR '1'=</a:t>
            </a:r>
            <a:r>
              <a:rPr lang="en-US">
                <a:latin typeface="Courier New"/>
                <a:ea typeface="Courier New"/>
                <a:cs typeface="Courier New"/>
                <a:sym typeface="Courier New"/>
              </a:rPr>
              <a:t>'</a:t>
            </a:r>
            <a:r>
              <a:rPr lang="en-US">
                <a:latin typeface="Courier New"/>
                <a:ea typeface="Courier New"/>
                <a:cs typeface="Courier New"/>
                <a:sym typeface="Courier New"/>
              </a:rPr>
              <a:t>1</a:t>
            </a:r>
            <a:endParaRPr>
              <a:latin typeface="Courier New"/>
              <a:ea typeface="Courier New"/>
              <a:cs typeface="Courier New"/>
              <a:sym typeface="Courier New"/>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US"/>
              <a:t>Expected: </a:t>
            </a:r>
            <a:r>
              <a:rPr b="1" lang="en-US">
                <a:solidFill>
                  <a:srgbClr val="34BE34"/>
                </a:solidFill>
              </a:rPr>
              <a:t>PASS</a:t>
            </a:r>
            <a:endParaRPr b="1">
              <a:solidFill>
                <a:srgbClr val="34BE34"/>
              </a:solidFill>
            </a:endParaRPr>
          </a:p>
          <a:p>
            <a:pPr indent="0" lvl="0" marL="0" rtl="0" algn="l">
              <a:lnSpc>
                <a:spcPct val="115000"/>
              </a:lnSpc>
              <a:spcBef>
                <a:spcPts val="0"/>
              </a:spcBef>
              <a:spcAft>
                <a:spcPts val="0"/>
              </a:spcAft>
              <a:buNone/>
            </a:pPr>
            <a:r>
              <a:rPr lang="en-US"/>
              <a:t>Result: Input is treated as a literal username rather than modifying the SQL statement.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9"/>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AUTOMATION SUMMARY</a:t>
            </a:r>
            <a:endParaRPr/>
          </a:p>
        </p:txBody>
      </p:sp>
      <p:pic>
        <p:nvPicPr>
          <p:cNvPr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id="235" name="Google Shape;235;p9"/>
          <p:cNvPicPr preferRelativeResize="0"/>
          <p:nvPr>
            <p:ph idx="1" type="body"/>
          </p:nvPr>
        </p:nvPicPr>
        <p:blipFill rotWithShape="1">
          <a:blip r:embed="rId3">
            <a:alphaModFix/>
          </a:blip>
          <a:srcRect b="0" l="0" r="0" t="0"/>
          <a:stretch/>
        </p:blipFill>
        <p:spPr>
          <a:xfrm>
            <a:off x="2127250" y="2199481"/>
            <a:ext cx="7937500" cy="4013200"/>
          </a:xfrm>
          <a:prstGeom prst="rect">
            <a:avLst/>
          </a:prstGeom>
          <a:noFill/>
          <a:ln>
            <a:noFill/>
          </a:ln>
        </p:spPr>
      </p:pic>
      <p:pic>
        <p:nvPicPr>
          <p:cNvPr descr="Green Pace logo" id="236" name="Google Shape;236;p9"/>
          <p:cNvPicPr preferRelativeResize="0"/>
          <p:nvPr/>
        </p:nvPicPr>
        <p:blipFill rotWithShape="1">
          <a:blip r:embed="rId4">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0"/>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TOOLS</a:t>
            </a:r>
            <a:endParaRPr/>
          </a:p>
        </p:txBody>
      </p:sp>
      <p:sp>
        <p:nvSpPr>
          <p:cNvPr id="242" name="Google Shape;242;p10"/>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41300" lvl="1" marL="685800" rtl="0" algn="l">
              <a:lnSpc>
                <a:spcPct val="115000"/>
              </a:lnSpc>
              <a:spcBef>
                <a:spcPts val="0"/>
              </a:spcBef>
              <a:spcAft>
                <a:spcPts val="0"/>
              </a:spcAft>
              <a:buClr>
                <a:schemeClr val="lt1"/>
              </a:buClr>
              <a:buSzPts val="2200"/>
              <a:buChar char="•"/>
            </a:pPr>
            <a:r>
              <a:rPr lang="en-US" sz="2200"/>
              <a:t>Assess and Plan: IDE plugins (i.e SonarLint, Clang-Tidy).</a:t>
            </a:r>
            <a:endParaRPr sz="2200"/>
          </a:p>
          <a:p>
            <a:pPr indent="-241300" lvl="1" marL="685800" rtl="0" algn="l">
              <a:lnSpc>
                <a:spcPct val="115000"/>
              </a:lnSpc>
              <a:spcBef>
                <a:spcPts val="0"/>
              </a:spcBef>
              <a:spcAft>
                <a:spcPts val="0"/>
              </a:spcAft>
              <a:buSzPts val="2200"/>
              <a:buChar char="•"/>
            </a:pPr>
            <a:r>
              <a:rPr lang="en-US" sz="2200"/>
              <a:t>Design: OWASP, SEI CERT.</a:t>
            </a:r>
            <a:endParaRPr sz="2200"/>
          </a:p>
          <a:p>
            <a:pPr indent="-241300" lvl="1" marL="685800" rtl="0" algn="l">
              <a:lnSpc>
                <a:spcPct val="115000"/>
              </a:lnSpc>
              <a:spcBef>
                <a:spcPts val="0"/>
              </a:spcBef>
              <a:spcAft>
                <a:spcPts val="0"/>
              </a:spcAft>
              <a:buSzPts val="2200"/>
              <a:buChar char="•"/>
            </a:pPr>
            <a:r>
              <a:rPr lang="en-US" sz="2200"/>
              <a:t>Build: Automated integration testing and nightly build pipelines, dynamic sanitizers and automated input fuzzing.</a:t>
            </a:r>
            <a:endParaRPr sz="2200"/>
          </a:p>
          <a:p>
            <a:pPr indent="-241300" lvl="1" marL="685800" rtl="0" algn="l">
              <a:lnSpc>
                <a:spcPct val="115000"/>
              </a:lnSpc>
              <a:spcBef>
                <a:spcPts val="0"/>
              </a:spcBef>
              <a:spcAft>
                <a:spcPts val="0"/>
              </a:spcAft>
              <a:buSzPts val="2200"/>
              <a:buChar char="•"/>
            </a:pPr>
            <a:r>
              <a:rPr lang="en-US" sz="2200"/>
              <a:t>Verify and Test: SAST, SCA, &amp; IAST. </a:t>
            </a:r>
            <a:r>
              <a:rPr lang="en-US" sz="2200"/>
              <a:t>Automated</a:t>
            </a:r>
            <a:r>
              <a:rPr lang="en-US" sz="2200"/>
              <a:t> checks in CI/CD.</a:t>
            </a:r>
            <a:endParaRPr sz="2200"/>
          </a:p>
          <a:p>
            <a:pPr indent="-241300" lvl="1" marL="685800" rtl="0" algn="l">
              <a:lnSpc>
                <a:spcPct val="115000"/>
              </a:lnSpc>
              <a:spcBef>
                <a:spcPts val="0"/>
              </a:spcBef>
              <a:spcAft>
                <a:spcPts val="0"/>
              </a:spcAft>
              <a:buSzPts val="2200"/>
              <a:buChar char="•"/>
            </a:pPr>
            <a:r>
              <a:rPr lang="en-US" sz="2200"/>
              <a:t>Transition, Monitor and Detect: Security policies, logs, SIEM, firewalls alerts.</a:t>
            </a:r>
            <a:endParaRPr sz="2200"/>
          </a:p>
          <a:p>
            <a:pPr indent="-241300" lvl="1" marL="685800" rtl="0" algn="l">
              <a:lnSpc>
                <a:spcPct val="115000"/>
              </a:lnSpc>
              <a:spcBef>
                <a:spcPts val="0"/>
              </a:spcBef>
              <a:spcAft>
                <a:spcPts val="0"/>
              </a:spcAft>
              <a:buSzPts val="2200"/>
              <a:buChar char="•"/>
            </a:pPr>
            <a:r>
              <a:rPr lang="en-US" sz="2200"/>
              <a:t>Respond: Bug fixes, intrusion/leak alerts and temporary rollback -&gt; Assess and Plan</a:t>
            </a:r>
            <a:endParaRPr sz="2200"/>
          </a:p>
          <a:p>
            <a:pPr indent="-241300" lvl="1" marL="685800" rtl="0" algn="l">
              <a:lnSpc>
                <a:spcPct val="115000"/>
              </a:lnSpc>
              <a:spcBef>
                <a:spcPts val="0"/>
              </a:spcBef>
              <a:spcAft>
                <a:spcPts val="0"/>
              </a:spcAft>
              <a:buSzPts val="2200"/>
              <a:buChar char="•"/>
            </a:pPr>
            <a:r>
              <a:rPr lang="en-US" sz="2200"/>
              <a:t>Maintain and Stabilize: Predict vectors, zero trust, default deny and PoLP.</a:t>
            </a:r>
            <a:endParaRPr sz="2200"/>
          </a:p>
        </p:txBody>
      </p:sp>
      <p:pic>
        <p:nvPicPr>
          <p:cNvPr descr="Green Pace logo" id="243" name="Google Shape;243;p10"/>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RISKS AND BENEFITS</a:t>
            </a:r>
            <a:endParaRPr/>
          </a:p>
        </p:txBody>
      </p:sp>
      <p:sp>
        <p:nvSpPr>
          <p:cNvPr id="249" name="Google Shape;249;p11"/>
          <p:cNvSpPr txBox="1"/>
          <p:nvPr>
            <p:ph idx="1" type="body"/>
          </p:nvPr>
        </p:nvSpPr>
        <p:spPr>
          <a:xfrm>
            <a:off x="685800" y="2057400"/>
            <a:ext cx="4890300" cy="2857800"/>
          </a:xfrm>
          <a:prstGeom prst="rect">
            <a:avLst/>
          </a:prstGeom>
          <a:noFill/>
          <a:ln>
            <a:noFill/>
          </a:ln>
        </p:spPr>
        <p:txBody>
          <a:bodyPr anchorCtr="0" anchor="t" bIns="45700" lIns="91425" spcFirstLastPara="1" rIns="91425" wrap="square" tIns="45700">
            <a:normAutofit/>
          </a:bodyPr>
          <a:lstStyle/>
          <a:p>
            <a:pPr indent="0" lvl="0" marL="0" rtl="0" algn="ctr">
              <a:lnSpc>
                <a:spcPct val="115000"/>
              </a:lnSpc>
              <a:spcBef>
                <a:spcPts val="0"/>
              </a:spcBef>
              <a:spcAft>
                <a:spcPts val="0"/>
              </a:spcAft>
              <a:buNone/>
            </a:pPr>
            <a:r>
              <a:rPr b="1" lang="en-US" sz="3000"/>
              <a:t>ACT NOW</a:t>
            </a:r>
            <a:endParaRPr b="1" sz="3000"/>
          </a:p>
          <a:p>
            <a:pPr indent="-342900" lvl="0" marL="457200" rtl="0" algn="l">
              <a:lnSpc>
                <a:spcPct val="115000"/>
              </a:lnSpc>
              <a:spcBef>
                <a:spcPts val="0"/>
              </a:spcBef>
              <a:spcAft>
                <a:spcPts val="0"/>
              </a:spcAft>
              <a:buSzPts val="1800"/>
              <a:buChar char="•"/>
            </a:pPr>
            <a:r>
              <a:rPr lang="en-US"/>
              <a:t>Catch bugs before production</a:t>
            </a:r>
            <a:endParaRPr/>
          </a:p>
          <a:p>
            <a:pPr indent="-342900" lvl="0" marL="457200" rtl="0" algn="l">
              <a:lnSpc>
                <a:spcPct val="115000"/>
              </a:lnSpc>
              <a:spcBef>
                <a:spcPts val="0"/>
              </a:spcBef>
              <a:spcAft>
                <a:spcPts val="0"/>
              </a:spcAft>
              <a:buSzPts val="1800"/>
              <a:buChar char="•"/>
            </a:pPr>
            <a:r>
              <a:rPr lang="en-US"/>
              <a:t>Prevent Downstream bugs</a:t>
            </a:r>
            <a:endParaRPr/>
          </a:p>
          <a:p>
            <a:pPr indent="-342900" lvl="0" marL="457200" rtl="0" algn="l">
              <a:lnSpc>
                <a:spcPct val="115000"/>
              </a:lnSpc>
              <a:spcBef>
                <a:spcPts val="0"/>
              </a:spcBef>
              <a:spcAft>
                <a:spcPts val="0"/>
              </a:spcAft>
              <a:buSzPts val="1800"/>
              <a:buChar char="•"/>
            </a:pPr>
            <a:r>
              <a:rPr lang="en-US"/>
              <a:t>Lower cost to fix</a:t>
            </a:r>
            <a:endParaRPr/>
          </a:p>
          <a:p>
            <a:pPr indent="-342900" lvl="0" marL="457200" rtl="0" algn="l">
              <a:lnSpc>
                <a:spcPct val="115000"/>
              </a:lnSpc>
              <a:spcBef>
                <a:spcPts val="0"/>
              </a:spcBef>
              <a:spcAft>
                <a:spcPts val="0"/>
              </a:spcAft>
              <a:buSzPts val="1800"/>
              <a:buChar char="•"/>
            </a:pPr>
            <a:r>
              <a:rPr lang="en-US"/>
              <a:t>Maintain transparency</a:t>
            </a:r>
            <a:endParaRPr/>
          </a:p>
          <a:p>
            <a:pPr indent="0" lvl="0" marL="0" rtl="0" algn="l">
              <a:lnSpc>
                <a:spcPct val="115000"/>
              </a:lnSpc>
              <a:spcBef>
                <a:spcPts val="0"/>
              </a:spcBef>
              <a:spcAft>
                <a:spcPts val="0"/>
              </a:spcAft>
              <a:buNone/>
            </a:pPr>
            <a:r>
              <a:t/>
            </a:r>
            <a:endParaRPr/>
          </a:p>
        </p:txBody>
      </p:sp>
      <p:pic>
        <p:nvPicPr>
          <p:cNvPr descr="Green Pace logo" id="250" name="Google Shape;250;p11"/>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
        <p:nvSpPr>
          <p:cNvPr id="251" name="Google Shape;251;p11"/>
          <p:cNvSpPr txBox="1"/>
          <p:nvPr>
            <p:ph idx="1" type="body"/>
          </p:nvPr>
        </p:nvSpPr>
        <p:spPr>
          <a:xfrm>
            <a:off x="6096000" y="2057400"/>
            <a:ext cx="5233200" cy="2857800"/>
          </a:xfrm>
          <a:prstGeom prst="rect">
            <a:avLst/>
          </a:prstGeom>
          <a:noFill/>
          <a:ln>
            <a:noFill/>
          </a:ln>
        </p:spPr>
        <p:txBody>
          <a:bodyPr anchorCtr="0" anchor="t" bIns="45700" lIns="91425" spcFirstLastPara="1" rIns="91425" wrap="square" tIns="45700">
            <a:normAutofit/>
          </a:bodyPr>
          <a:lstStyle/>
          <a:p>
            <a:pPr indent="0" lvl="0" marL="0" rtl="0" algn="ctr">
              <a:lnSpc>
                <a:spcPct val="115000"/>
              </a:lnSpc>
              <a:spcBef>
                <a:spcPts val="0"/>
              </a:spcBef>
              <a:spcAft>
                <a:spcPts val="0"/>
              </a:spcAft>
              <a:buNone/>
            </a:pPr>
            <a:r>
              <a:rPr b="1" lang="en-US" sz="3000"/>
              <a:t>WAIT</a:t>
            </a:r>
            <a:endParaRPr b="1" sz="3000"/>
          </a:p>
          <a:p>
            <a:pPr indent="-342900" lvl="0" marL="457200" rtl="0" algn="l">
              <a:lnSpc>
                <a:spcPct val="115000"/>
              </a:lnSpc>
              <a:spcBef>
                <a:spcPts val="0"/>
              </a:spcBef>
              <a:spcAft>
                <a:spcPts val="0"/>
              </a:spcAft>
              <a:buSzPts val="1800"/>
              <a:buChar char="•"/>
            </a:pPr>
            <a:r>
              <a:rPr lang="en-US"/>
              <a:t>Bugs may reach production</a:t>
            </a:r>
            <a:endParaRPr/>
          </a:p>
          <a:p>
            <a:pPr indent="-342900" lvl="0" marL="457200" rtl="0" algn="l">
              <a:lnSpc>
                <a:spcPct val="115000"/>
              </a:lnSpc>
              <a:spcBef>
                <a:spcPts val="0"/>
              </a:spcBef>
              <a:spcAft>
                <a:spcPts val="0"/>
              </a:spcAft>
              <a:buSzPts val="1800"/>
              <a:buChar char="•"/>
            </a:pPr>
            <a:r>
              <a:rPr lang="en-US"/>
              <a:t>Downstream bugs hard to trace</a:t>
            </a:r>
            <a:endParaRPr/>
          </a:p>
          <a:p>
            <a:pPr indent="-342900" lvl="0" marL="457200" rtl="0" algn="l">
              <a:lnSpc>
                <a:spcPct val="115000"/>
              </a:lnSpc>
              <a:spcBef>
                <a:spcPts val="0"/>
              </a:spcBef>
              <a:spcAft>
                <a:spcPts val="0"/>
              </a:spcAft>
              <a:buSzPts val="1800"/>
              <a:buChar char="•"/>
            </a:pPr>
            <a:r>
              <a:rPr lang="en-US"/>
              <a:t>Costlier to fix + legal reparations</a:t>
            </a:r>
            <a:endParaRPr/>
          </a:p>
          <a:p>
            <a:pPr indent="-342900" lvl="0" marL="457200" rtl="0" algn="l">
              <a:lnSpc>
                <a:spcPct val="115000"/>
              </a:lnSpc>
              <a:spcBef>
                <a:spcPts val="0"/>
              </a:spcBef>
              <a:spcAft>
                <a:spcPts val="0"/>
              </a:spcAft>
              <a:buSzPts val="1800"/>
              <a:buChar char="•"/>
            </a:pPr>
            <a:r>
              <a:rPr lang="en-US"/>
              <a:t>Lose trust</a:t>
            </a:r>
            <a:endParaRPr/>
          </a:p>
        </p:txBody>
      </p:sp>
      <p:sp>
        <p:nvSpPr>
          <p:cNvPr id="252" name="Google Shape;252;p11"/>
          <p:cNvSpPr txBox="1"/>
          <p:nvPr/>
        </p:nvSpPr>
        <p:spPr>
          <a:xfrm>
            <a:off x="5486225" y="2057400"/>
            <a:ext cx="8865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2200">
                <a:solidFill>
                  <a:schemeClr val="lt1"/>
                </a:solidFill>
                <a:latin typeface="Century Gothic"/>
                <a:ea typeface="Century Gothic"/>
                <a:cs typeface="Century Gothic"/>
                <a:sym typeface="Century Gothic"/>
              </a:rPr>
              <a:t>VS</a:t>
            </a:r>
            <a:endParaRPr sz="2200">
              <a:solidFill>
                <a:schemeClr val="lt1"/>
              </a:solidFill>
              <a:latin typeface="Century Gothic"/>
              <a:ea typeface="Century Gothic"/>
              <a:cs typeface="Century Gothic"/>
              <a:sym typeface="Century Gothic"/>
            </a:endParaRPr>
          </a:p>
        </p:txBody>
      </p:sp>
      <p:sp>
        <p:nvSpPr>
          <p:cNvPr id="253" name="Google Shape;253;p11"/>
          <p:cNvSpPr txBox="1"/>
          <p:nvPr>
            <p:ph idx="1" type="body"/>
          </p:nvPr>
        </p:nvSpPr>
        <p:spPr>
          <a:xfrm>
            <a:off x="514350" y="4915150"/>
            <a:ext cx="10754100" cy="14838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None/>
            </a:pPr>
            <a:r>
              <a:rPr lang="en-US"/>
              <a:t>	Consider: Cost of repair now vs later. Public image now vs later. </a:t>
            </a:r>
            <a:endParaRPr/>
          </a:p>
          <a:p>
            <a:pPr indent="457200" lvl="0" marL="0" rtl="0" algn="l">
              <a:lnSpc>
                <a:spcPct val="150000"/>
              </a:lnSpc>
              <a:spcBef>
                <a:spcPts val="0"/>
              </a:spcBef>
              <a:spcAft>
                <a:spcPts val="0"/>
              </a:spcAft>
              <a:buNone/>
            </a:pPr>
            <a:r>
              <a:rPr lang="en-US"/>
              <a:t>Downstream time cost now vs later. Cost with vs without CI/CD or </a:t>
            </a:r>
            <a:endParaRPr/>
          </a:p>
          <a:p>
            <a:pPr indent="0" lvl="0" marL="457200" rtl="0" algn="l">
              <a:lnSpc>
                <a:spcPct val="150000"/>
              </a:lnSpc>
              <a:spcBef>
                <a:spcPts val="0"/>
              </a:spcBef>
              <a:spcAft>
                <a:spcPts val="0"/>
              </a:spcAft>
              <a:buNone/>
            </a:pPr>
            <a:r>
              <a:rPr lang="en-US"/>
              <a:t>automation pipeline.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2"/>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RECOMMENDATIONS</a:t>
            </a:r>
            <a:endParaRPr/>
          </a:p>
        </p:txBody>
      </p:sp>
      <p:sp>
        <p:nvSpPr>
          <p:cNvPr id="259" name="Google Shape;259;p12"/>
          <p:cNvSpPr txBox="1"/>
          <p:nvPr>
            <p:ph idx="1" type="body"/>
          </p:nvPr>
        </p:nvSpPr>
        <p:spPr>
          <a:xfrm>
            <a:off x="685800" y="2057400"/>
            <a:ext cx="10820400" cy="4161300"/>
          </a:xfrm>
          <a:prstGeom prst="rect">
            <a:avLst/>
          </a:prstGeom>
          <a:noFill/>
          <a:ln>
            <a:noFill/>
          </a:ln>
        </p:spPr>
        <p:txBody>
          <a:bodyPr anchorCtr="0" anchor="t" bIns="45700" lIns="91425" spcFirstLastPara="1" rIns="91425" wrap="square" tIns="45700">
            <a:noAutofit/>
          </a:bodyPr>
          <a:lstStyle/>
          <a:p>
            <a:pPr indent="-368300" lvl="0" marL="914400" rtl="0" algn="l">
              <a:lnSpc>
                <a:spcPct val="115000"/>
              </a:lnSpc>
              <a:spcBef>
                <a:spcPts val="0"/>
              </a:spcBef>
              <a:spcAft>
                <a:spcPts val="0"/>
              </a:spcAft>
              <a:buSzPts val="2200"/>
              <a:buAutoNum type="arabicPeriod"/>
            </a:pPr>
            <a:r>
              <a:rPr lang="en-US" sz="2200"/>
              <a:t>Address Likely, HIGH risk and Level-1 vulnerabilities first. </a:t>
            </a:r>
            <a:endParaRPr/>
          </a:p>
          <a:p>
            <a:pPr indent="-368300" lvl="0" marL="914400" rtl="0" algn="l">
              <a:lnSpc>
                <a:spcPct val="115000"/>
              </a:lnSpc>
              <a:spcBef>
                <a:spcPts val="0"/>
              </a:spcBef>
              <a:spcAft>
                <a:spcPts val="0"/>
              </a:spcAft>
              <a:buSzPts val="2200"/>
              <a:buAutoNum type="arabicPeriod"/>
            </a:pPr>
            <a:r>
              <a:rPr lang="en-US" sz="2200"/>
              <a:t>Use automated testing to find </a:t>
            </a:r>
            <a:r>
              <a:rPr lang="en-US" sz="2200"/>
              <a:t>known</a:t>
            </a:r>
            <a:r>
              <a:rPr lang="en-US" sz="2200"/>
              <a:t> issues early and alert relevant staff/users. </a:t>
            </a:r>
            <a:endParaRPr/>
          </a:p>
          <a:p>
            <a:pPr indent="-368300" lvl="0" marL="914400" rtl="0" algn="l">
              <a:lnSpc>
                <a:spcPct val="115000"/>
              </a:lnSpc>
              <a:spcBef>
                <a:spcPts val="0"/>
              </a:spcBef>
              <a:spcAft>
                <a:spcPts val="0"/>
              </a:spcAft>
              <a:buSzPts val="2200"/>
              <a:buAutoNum type="arabicPeriod"/>
            </a:pPr>
            <a:r>
              <a:rPr lang="en-US" sz="2200"/>
              <a:t>Employ IDE extensions like SonarLint and Clang-Tidy.</a:t>
            </a:r>
            <a:endParaRPr/>
          </a:p>
          <a:p>
            <a:pPr indent="-368300" lvl="0" marL="914400" rtl="0" algn="l">
              <a:lnSpc>
                <a:spcPct val="115000"/>
              </a:lnSpc>
              <a:spcBef>
                <a:spcPts val="0"/>
              </a:spcBef>
              <a:spcAft>
                <a:spcPts val="0"/>
              </a:spcAft>
              <a:buSzPts val="2200"/>
              <a:buAutoNum type="arabicPeriod"/>
            </a:pPr>
            <a:r>
              <a:rPr lang="en-US" sz="2200"/>
              <a:t>Automate build pipelines </a:t>
            </a:r>
            <a:r>
              <a:rPr lang="en-US" sz="2200"/>
              <a:t>with</a:t>
            </a:r>
            <a:r>
              <a:rPr lang="en-US" sz="2200"/>
              <a:t> SAST. </a:t>
            </a:r>
            <a:endParaRPr/>
          </a:p>
          <a:p>
            <a:pPr indent="-368300" lvl="0" marL="914400" rtl="0" algn="l">
              <a:lnSpc>
                <a:spcPct val="115000"/>
              </a:lnSpc>
              <a:spcBef>
                <a:spcPts val="0"/>
              </a:spcBef>
              <a:spcAft>
                <a:spcPts val="0"/>
              </a:spcAft>
              <a:buSzPts val="2200"/>
              <a:buAutoNum type="arabicPeriod"/>
            </a:pPr>
            <a:r>
              <a:rPr lang="en-US" sz="2200"/>
              <a:t>Automatically block High-Severity/Level-1 from repo merging. </a:t>
            </a:r>
            <a:endParaRPr/>
          </a:p>
          <a:p>
            <a:pPr indent="-368300" lvl="0" marL="914400" rtl="0" algn="l">
              <a:lnSpc>
                <a:spcPct val="115000"/>
              </a:lnSpc>
              <a:spcBef>
                <a:spcPts val="0"/>
              </a:spcBef>
              <a:spcAft>
                <a:spcPts val="0"/>
              </a:spcAft>
              <a:buSzPts val="2200"/>
              <a:buAutoNum type="arabicPeriod"/>
            </a:pPr>
            <a:r>
              <a:rPr lang="en-US" sz="2200"/>
              <a:t>Use cryptographic signing and checksum verification on </a:t>
            </a:r>
            <a:r>
              <a:rPr lang="en-US" sz="2200"/>
              <a:t>compiled</a:t>
            </a:r>
            <a:r>
              <a:rPr lang="en-US" sz="2200"/>
              <a:t> binaries.</a:t>
            </a:r>
            <a:endParaRPr/>
          </a:p>
          <a:p>
            <a:pPr indent="-368300" lvl="0" marL="914400" rtl="0" algn="l">
              <a:lnSpc>
                <a:spcPct val="115000"/>
              </a:lnSpc>
              <a:spcBef>
                <a:spcPts val="0"/>
              </a:spcBef>
              <a:spcAft>
                <a:spcPts val="0"/>
              </a:spcAft>
              <a:buSzPts val="2200"/>
              <a:buAutoNum type="arabicPeriod"/>
            </a:pPr>
            <a:r>
              <a:rPr lang="en-US" sz="2200"/>
              <a:t>C</a:t>
            </a:r>
            <a:r>
              <a:rPr lang="en-US" sz="2200"/>
              <a:t>ontinuously aggregate production, application logs and access traces into SIEM infrastructure to fulfill Triple-A Accounting requirements.</a:t>
            </a:r>
            <a:endParaRPr sz="2200"/>
          </a:p>
        </p:txBody>
      </p:sp>
      <p:pic>
        <p:nvPicPr>
          <p:cNvPr descr="Green Pace logo" id="260" name="Google Shape;260;p12"/>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3"/>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CONCLUSIONS</a:t>
            </a:r>
            <a:endParaRPr/>
          </a:p>
        </p:txBody>
      </p:sp>
      <p:sp>
        <p:nvSpPr>
          <p:cNvPr id="266" name="Google Shape;266;p13"/>
          <p:cNvSpPr txBox="1"/>
          <p:nvPr>
            <p:ph idx="1" type="body"/>
          </p:nvPr>
        </p:nvSpPr>
        <p:spPr>
          <a:xfrm>
            <a:off x="655500" y="1968475"/>
            <a:ext cx="4996500" cy="40242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lang="en-US"/>
              <a:t>Current Gaps:</a:t>
            </a:r>
            <a:endParaRPr/>
          </a:p>
          <a:p>
            <a:pPr indent="-342900" lvl="0" marL="457200" rtl="0" algn="l">
              <a:lnSpc>
                <a:spcPct val="115000"/>
              </a:lnSpc>
              <a:spcBef>
                <a:spcPts val="0"/>
              </a:spcBef>
              <a:spcAft>
                <a:spcPts val="0"/>
              </a:spcAft>
              <a:buSzPts val="1800"/>
              <a:buChar char="•"/>
            </a:pPr>
            <a:r>
              <a:rPr lang="en-US"/>
              <a:t>Languages</a:t>
            </a:r>
            <a:r>
              <a:rPr lang="en-US"/>
              <a:t> </a:t>
            </a:r>
            <a:r>
              <a:rPr lang="en-US"/>
              <a:t>other than C/C++</a:t>
            </a:r>
            <a:endParaRPr/>
          </a:p>
          <a:p>
            <a:pPr indent="-342900" lvl="0" marL="457200" rtl="0" algn="l">
              <a:lnSpc>
                <a:spcPct val="115000"/>
              </a:lnSpc>
              <a:spcBef>
                <a:spcPts val="0"/>
              </a:spcBef>
              <a:spcAft>
                <a:spcPts val="0"/>
              </a:spcAft>
              <a:buSzPts val="1800"/>
              <a:buChar char="•"/>
            </a:pPr>
            <a:r>
              <a:rPr lang="en-US"/>
              <a:t>Specific architectures like APIs, legacy systems and internal networks</a:t>
            </a:r>
            <a:endParaRPr/>
          </a:p>
          <a:p>
            <a:pPr indent="-342900" lvl="0" marL="457200" rtl="0" algn="l">
              <a:lnSpc>
                <a:spcPct val="115000"/>
              </a:lnSpc>
              <a:spcBef>
                <a:spcPts val="0"/>
              </a:spcBef>
              <a:spcAft>
                <a:spcPts val="0"/>
              </a:spcAft>
              <a:buSzPts val="1800"/>
              <a:buChar char="•"/>
            </a:pPr>
            <a:r>
              <a:rPr lang="en-US"/>
              <a:t>PR and HR considerations</a:t>
            </a:r>
            <a:endParaRPr/>
          </a:p>
          <a:p>
            <a:pPr indent="-342900" lvl="0" marL="457200" rtl="0" algn="l">
              <a:lnSpc>
                <a:spcPct val="115000"/>
              </a:lnSpc>
              <a:spcBef>
                <a:spcPts val="0"/>
              </a:spcBef>
              <a:spcAft>
                <a:spcPts val="0"/>
              </a:spcAft>
              <a:buSzPts val="1800"/>
              <a:buChar char="•"/>
            </a:pPr>
            <a:r>
              <a:rPr lang="en-US"/>
              <a:t>Financial analyses</a:t>
            </a:r>
            <a:endParaRPr/>
          </a:p>
        </p:txBody>
      </p:sp>
      <p:pic>
        <p:nvPicPr>
          <p:cNvPr descr="Green Pace logo" id="267" name="Google Shape;267;p13"/>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
        <p:nvSpPr>
          <p:cNvPr id="268" name="Google Shape;268;p13"/>
          <p:cNvSpPr txBox="1"/>
          <p:nvPr>
            <p:ph idx="1" type="body"/>
          </p:nvPr>
        </p:nvSpPr>
        <p:spPr>
          <a:xfrm>
            <a:off x="6096000" y="1968475"/>
            <a:ext cx="4996500" cy="4024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Future Prevention:</a:t>
            </a:r>
            <a:endParaRPr/>
          </a:p>
          <a:p>
            <a:pPr indent="-342900" lvl="0" marL="457200" rtl="0" algn="l">
              <a:lnSpc>
                <a:spcPct val="90000"/>
              </a:lnSpc>
              <a:spcBef>
                <a:spcPts val="0"/>
              </a:spcBef>
              <a:spcAft>
                <a:spcPts val="0"/>
              </a:spcAft>
              <a:buSzPts val="1800"/>
              <a:buChar char="•"/>
            </a:pPr>
            <a:r>
              <a:rPr lang="en-US"/>
              <a:t>Adapt all SEI CERT C/C++ current standards</a:t>
            </a:r>
            <a:endParaRPr/>
          </a:p>
          <a:p>
            <a:pPr indent="-342900" lvl="0" marL="457200" rtl="0" algn="l">
              <a:lnSpc>
                <a:spcPct val="90000"/>
              </a:lnSpc>
              <a:spcBef>
                <a:spcPts val="0"/>
              </a:spcBef>
              <a:spcAft>
                <a:spcPts val="0"/>
              </a:spcAft>
              <a:buSzPts val="1800"/>
              <a:buChar char="•"/>
            </a:pPr>
            <a:r>
              <a:rPr lang="en-US"/>
              <a:t>Update Security Policy at least once every 365 days</a:t>
            </a:r>
            <a:endParaRPr/>
          </a:p>
          <a:p>
            <a:pPr indent="-342900" lvl="0" marL="457200" rtl="0" algn="l">
              <a:lnSpc>
                <a:spcPct val="90000"/>
              </a:lnSpc>
              <a:spcBef>
                <a:spcPts val="0"/>
              </a:spcBef>
              <a:spcAft>
                <a:spcPts val="0"/>
              </a:spcAft>
              <a:buSzPts val="1800"/>
              <a:buChar char="•"/>
            </a:pPr>
            <a:r>
              <a:rPr lang="en-US"/>
              <a:t>Reassess policy for each project as needed</a:t>
            </a:r>
            <a:endParaRPr/>
          </a:p>
          <a:p>
            <a:pPr indent="-342900" lvl="0" marL="457200" rtl="0" algn="l">
              <a:lnSpc>
                <a:spcPct val="90000"/>
              </a:lnSpc>
              <a:spcBef>
                <a:spcPts val="0"/>
              </a:spcBef>
              <a:spcAft>
                <a:spcPts val="0"/>
              </a:spcAft>
              <a:buSzPts val="1800"/>
              <a:buChar char="•"/>
            </a:pPr>
            <a:r>
              <a:rPr lang="en-US"/>
              <a:t>Keep updated on OWASP and SEI standards</a:t>
            </a:r>
            <a:endParaRPr/>
          </a:p>
          <a:p>
            <a:pPr indent="-342900" lvl="0" marL="457200" rtl="0" algn="l">
              <a:lnSpc>
                <a:spcPct val="90000"/>
              </a:lnSpc>
              <a:spcBef>
                <a:spcPts val="0"/>
              </a:spcBef>
              <a:spcAft>
                <a:spcPts val="0"/>
              </a:spcAft>
              <a:buSzPts val="1800"/>
              <a:buChar char="•"/>
            </a:pPr>
            <a:r>
              <a:rPr lang="en-US"/>
              <a:t>Monitor resources like CISA, NVD and OWASP Top 10</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4"/>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REFERENCES</a:t>
            </a:r>
            <a:endParaRPr/>
          </a:p>
        </p:txBody>
      </p:sp>
      <p:sp>
        <p:nvSpPr>
          <p:cNvPr id="274" name="Google Shape;274;p14"/>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0" lvl="0" marL="457200" marR="457200" rtl="0" algn="l">
              <a:lnSpc>
                <a:spcPct val="200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Carnegie Mellon University Software Engineering Institute. (2017). SEI CERT C++ </a:t>
            </a:r>
            <a:endParaRPr>
              <a:latin typeface="Times New Roman"/>
              <a:ea typeface="Times New Roman"/>
              <a:cs typeface="Times New Roman"/>
              <a:sym typeface="Times New Roman"/>
            </a:endParaRPr>
          </a:p>
          <a:p>
            <a:pPr indent="457200" lvl="0" marL="457200" marR="457200" rtl="0" algn="l">
              <a:lnSpc>
                <a:spcPct val="200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coding standard: Rules for developing safe, reliable, and secure systems. Secure </a:t>
            </a:r>
            <a:endParaRPr>
              <a:latin typeface="Times New Roman"/>
              <a:ea typeface="Times New Roman"/>
              <a:cs typeface="Times New Roman"/>
              <a:sym typeface="Times New Roman"/>
            </a:endParaRPr>
          </a:p>
          <a:p>
            <a:pPr indent="457200" lvl="0" marL="457200" marR="457200" rtl="0" algn="l">
              <a:lnSpc>
                <a:spcPct val="200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Coding Wiki. Retrieved August 13, 2026, from cmu.edu</a:t>
            </a:r>
            <a:endParaRPr sz="3200"/>
          </a:p>
        </p:txBody>
      </p:sp>
      <p:pic>
        <p:nvPicPr>
          <p:cNvPr descr="Green Pace logo" id="275" name="Google Shape;275;p14"/>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2020-08-19T17:59:24Z</dcterms:created>
  <dc:creator>Kathy Shields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